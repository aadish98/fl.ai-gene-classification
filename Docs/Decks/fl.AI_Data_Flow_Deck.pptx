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0" y="0"/>
            <a:ext cx="64008" cy="6858000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A656A"/>
                </a:solidFill>
                <a:latin typeface="Calibri"/>
              </a:rPr>
              <a:t>FL.AI  ·  PIPELINE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0E1F33"/>
                </a:solidFill>
                <a:latin typeface="Georgia"/>
              </a:rPr>
              <a:t>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76F53"/>
                </a:solidFill>
                <a:latin typeface="Georgia"/>
              </a:rPr>
              <a:t>fl.AI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1">
                <a:solidFill>
                  <a:srgbClr val="3B4452"/>
                </a:solidFill>
                <a:latin typeface="Georgia"/>
              </a:rPr>
              <a:t>How data moves</a:t>
            </a:r>
          </a:p>
          <a:p>
            <a:pPr algn="l">
              <a:spcAft>
                <a:spcPts val="200"/>
              </a:spcAft>
            </a:pPr>
            <a:r>
              <a:rPr sz="2400" b="0" i="1">
                <a:solidFill>
                  <a:srgbClr val="3B4452"/>
                </a:solidFill>
                <a:latin typeface="Georgia"/>
              </a:rPr>
              <a:t>through the pipeline.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5074920"/>
            <a:ext cx="566928" cy="566928"/>
          </a:xfrm>
          <a:prstGeom prst="ellipse">
            <a:avLst/>
          </a:prstGeom>
          <a:solidFill>
            <a:srgbClr val="EC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68756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80">
                <a:solidFill>
                  <a:srgbClr val="3B4452"/>
                </a:solidFill>
                <a:latin typeface="Calibri"/>
              </a:rPr>
              <a:t>INPUT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07007" y="5358383"/>
            <a:ext cx="36577" cy="0"/>
          </a:xfrm>
          <a:prstGeom prst="line">
            <a:avLst/>
          </a:prstGeom>
          <a:ln w="15875">
            <a:solidFill>
              <a:srgbClr val="6B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243584" y="5074920"/>
            <a:ext cx="566928" cy="566928"/>
          </a:xfrm>
          <a:prstGeom prst="ellipse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3" y="568756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80">
                <a:solidFill>
                  <a:srgbClr val="3B4452"/>
                </a:solidFill>
                <a:latin typeface="Calibri"/>
              </a:rPr>
              <a:t>RESOLVE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10512" y="5358383"/>
            <a:ext cx="36576" cy="0"/>
          </a:xfrm>
          <a:prstGeom prst="line">
            <a:avLst/>
          </a:prstGeom>
          <a:ln w="15875">
            <a:solidFill>
              <a:srgbClr val="6B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847088" y="5074920"/>
            <a:ext cx="566928" cy="566928"/>
          </a:xfrm>
          <a:prstGeom prst="ellipse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55648" y="568756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80">
                <a:solidFill>
                  <a:srgbClr val="3B4452"/>
                </a:solidFill>
                <a:latin typeface="Calibri"/>
              </a:rPr>
              <a:t>GATHER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14016" y="5358383"/>
            <a:ext cx="36576" cy="0"/>
          </a:xfrm>
          <a:prstGeom prst="line">
            <a:avLst/>
          </a:prstGeom>
          <a:ln w="15875">
            <a:solidFill>
              <a:srgbClr val="6B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450591" y="5074920"/>
            <a:ext cx="566928" cy="566928"/>
          </a:xfrm>
          <a:prstGeom prst="ellipse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9151" y="568756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80">
                <a:solidFill>
                  <a:srgbClr val="3B4452"/>
                </a:solidFill>
                <a:latin typeface="Calibri"/>
              </a:rPr>
              <a:t>FILTER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17520" y="5358383"/>
            <a:ext cx="36576" cy="0"/>
          </a:xfrm>
          <a:prstGeom prst="line">
            <a:avLst/>
          </a:prstGeom>
          <a:ln w="15875">
            <a:solidFill>
              <a:srgbClr val="6B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054096" y="5074920"/>
            <a:ext cx="566928" cy="566928"/>
          </a:xfrm>
          <a:prstGeom prst="ellipse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62656" y="568756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80">
                <a:solidFill>
                  <a:srgbClr val="3B4452"/>
                </a:solidFill>
                <a:latin typeface="Calibri"/>
              </a:rPr>
              <a:t>READ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21024" y="5358383"/>
            <a:ext cx="36576" cy="0"/>
          </a:xfrm>
          <a:prstGeom prst="line">
            <a:avLst/>
          </a:prstGeom>
          <a:ln w="15875">
            <a:solidFill>
              <a:srgbClr val="6B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657600" y="5074920"/>
            <a:ext cx="566928" cy="566928"/>
          </a:xfrm>
          <a:prstGeom prst="ellipse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568756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80">
                <a:solidFill>
                  <a:srgbClr val="3B4452"/>
                </a:solidFill>
                <a:latin typeface="Calibri"/>
              </a:rPr>
              <a:t>CLASSIFY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24528" y="5358383"/>
            <a:ext cx="36576" cy="0"/>
          </a:xfrm>
          <a:prstGeom prst="line">
            <a:avLst/>
          </a:prstGeom>
          <a:ln w="15875">
            <a:solidFill>
              <a:srgbClr val="6B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261104" y="5074920"/>
            <a:ext cx="566928" cy="566928"/>
          </a:xfrm>
          <a:prstGeom prst="ellipse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9664" y="568756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80">
                <a:solidFill>
                  <a:srgbClr val="3B4452"/>
                </a:solidFill>
                <a:latin typeface="Calibri"/>
              </a:rPr>
              <a:t>DELIVER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63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382"/>
                </a:solidFill>
                <a:latin typeface="Georgia"/>
              </a:rPr>
              <a:t>A non-technical walkthrough  ·  No code, just the journey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14173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E0B341"/>
                </a:solidFill>
                <a:latin typeface="Calibri"/>
              </a:rPr>
              <a:t>What this deck covers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40680" y="2039112"/>
            <a:ext cx="146304" cy="146304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19659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Georgia"/>
              </a:rPr>
              <a:t>What raw data the pipeline starts with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0680" y="2542032"/>
            <a:ext cx="146304" cy="146304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0" y="246888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Georgia"/>
              </a:rPr>
              <a:t>How a list of fly genes becomes a list of papers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40680" y="3044952"/>
            <a:ext cx="146304" cy="146304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0" y="297180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Georgia"/>
              </a:rPr>
              <a:t>How papers become structured 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40680" y="3547872"/>
            <a:ext cx="146304" cy="146304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15000" y="347472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Georgia"/>
              </a:rPr>
              <a:t>How evidence becomes a final classification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40680" y="4050791"/>
            <a:ext cx="146304" cy="146304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5000" y="3977639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Georgia"/>
              </a:rPr>
              <a:t>What you receive at the 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626364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20">
                <a:solidFill>
                  <a:srgbClr val="C8CED8"/>
                </a:solidFill>
                <a:latin typeface="Calibri"/>
              </a:rPr>
              <a:t>Allada Lab  ·  University of Michigan  · 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2"/>
                </a:solidFill>
                <a:latin typeface="Calibri"/>
              </a:rP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A656A"/>
                </a:solidFill>
                <a:latin typeface="Calibri"/>
              </a:rPr>
              <a:t>THE JOURNEY,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E1F33"/>
                </a:solidFill>
                <a:latin typeface="Georgia"/>
              </a:rPr>
              <a:t>From a list of genes to a classified evidence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2"/>
                </a:solidFill>
                <a:latin typeface="Georgia"/>
              </a:rPr>
              <a:t>Seven stages move the data from raw input to the final report. Each stage adds context, narrows the field, or transforms one kind of information into another.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88920"/>
            <a:ext cx="1490472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1490472" cy="164592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063239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1F33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429000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F33"/>
                </a:solidFill>
                <a:latin typeface="Georgia"/>
              </a:rP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794760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2"/>
                </a:solidFill>
                <a:latin typeface="Calibri"/>
              </a:rPr>
              <a:t>Gene lists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2788920"/>
            <a:ext cx="1490472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8840" y="2788920"/>
            <a:ext cx="1490472" cy="164592"/>
          </a:xfrm>
          <a:prstGeom prst="rect">
            <a:avLst/>
          </a:prstGeom>
          <a:solidFill>
            <a:srgbClr val="1A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3432" y="3063239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2D46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3429000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F33"/>
                </a:solidFill>
                <a:latin typeface="Georgia"/>
              </a:rPr>
              <a:t>Resolve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3432" y="3794760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2"/>
                </a:solidFill>
                <a:latin typeface="Calibri"/>
              </a:rPr>
              <a:t>Canonical IDs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2788920"/>
            <a:ext cx="1490472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39" y="2788920"/>
            <a:ext cx="1490472" cy="164592"/>
          </a:xfrm>
          <a:prstGeom prst="rect">
            <a:avLst/>
          </a:prstGeom>
          <a:solidFill>
            <a:srgbClr val="0A6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13631" y="3063239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A656A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1" y="3429000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F33"/>
                </a:solidFill>
                <a:latin typeface="Georgia"/>
              </a:rPr>
              <a:t>Gather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13631" y="3794760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2"/>
                </a:solidFill>
                <a:latin typeface="Calibri"/>
              </a:rPr>
              <a:t>Candidate papers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9240" y="2788920"/>
            <a:ext cx="1490472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240" y="2788920"/>
            <a:ext cx="1490472" cy="164592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3831" y="3063239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8388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1" y="3429000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F33"/>
                </a:solidFill>
                <a:latin typeface="Georgia"/>
              </a:rPr>
              <a:t>Filter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3831" y="3794760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2"/>
                </a:solidFill>
                <a:latin typeface="Calibri"/>
              </a:rPr>
              <a:t>Relevant papers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2788920"/>
            <a:ext cx="1490472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0" y="2788920"/>
            <a:ext cx="1490472" cy="164592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1" y="3063239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8388"/>
                </a:solidFill>
                <a:latin typeface="Georgi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429000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F33"/>
                </a:solidFill>
                <a:latin typeface="Georgia"/>
              </a:rPr>
              <a:t>Read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794760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2"/>
                </a:solidFill>
                <a:latin typeface="Calibri"/>
              </a:rPr>
              <a:t>Evidence summaries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2788920"/>
            <a:ext cx="1490472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9640" y="2788920"/>
            <a:ext cx="1490472" cy="164592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4232" y="3063239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76F53"/>
                </a:solidFill>
                <a:latin typeface="Georgia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4232" y="3429000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F33"/>
                </a:solidFill>
                <a:latin typeface="Georgia"/>
              </a:rPr>
              <a:t>Classify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14232" y="3794760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2"/>
                </a:solidFill>
                <a:latin typeface="Calibri"/>
              </a:rPr>
              <a:t>Category verdicts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49840" y="2788920"/>
            <a:ext cx="1490472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49840" y="2788920"/>
            <a:ext cx="1490472" cy="164592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14432" y="3063239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76F53"/>
                </a:solidFill>
                <a:latin typeface="Georgia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14432" y="3429000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F33"/>
                </a:solidFill>
                <a:latin typeface="Georgia"/>
              </a:rPr>
              <a:t>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2" y="3794760"/>
            <a:ext cx="1161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2"/>
                </a:solidFill>
                <a:latin typeface="Calibri"/>
              </a:rPr>
              <a:t>Excel report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" y="4617720"/>
            <a:ext cx="10360152" cy="0"/>
          </a:xfrm>
          <a:prstGeom prst="line">
            <a:avLst/>
          </a:prstGeom>
          <a:ln w="15875">
            <a:solidFill>
              <a:srgbClr val="6B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850392" y="4553712"/>
            <a:ext cx="128016" cy="128016"/>
          </a:xfrm>
          <a:prstGeom prst="ellipse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78231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3B4452"/>
                </a:solidFill>
                <a:latin typeface="Georgia"/>
              </a:rPr>
              <a:t>Identify the genes</a:t>
            </a:r>
          </a:p>
        </p:txBody>
      </p:sp>
      <p:sp>
        <p:nvSpPr>
          <p:cNvPr id="44" name="Oval 43"/>
          <p:cNvSpPr/>
          <p:nvPr/>
        </p:nvSpPr>
        <p:spPr>
          <a:xfrm>
            <a:off x="4873752" y="4553712"/>
            <a:ext cx="128016" cy="128016"/>
          </a:xfrm>
          <a:prstGeom prst="ellipse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478231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3B4452"/>
                </a:solidFill>
                <a:latin typeface="Georgia"/>
              </a:rPr>
              <a:t>Find &amp; filter the literature</a:t>
            </a:r>
          </a:p>
        </p:txBody>
      </p:sp>
      <p:sp>
        <p:nvSpPr>
          <p:cNvPr id="46" name="Oval 45"/>
          <p:cNvSpPr/>
          <p:nvPr/>
        </p:nvSpPr>
        <p:spPr>
          <a:xfrm>
            <a:off x="9079992" y="4553712"/>
            <a:ext cx="128016" cy="128016"/>
          </a:xfrm>
          <a:prstGeom prst="ellipse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0" y="478231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3B4452"/>
                </a:solidFill>
                <a:latin typeface="Georgia"/>
              </a:rPr>
              <a:t>Read &amp; classify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4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5321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0B341"/>
                </a:solidFill>
                <a:latin typeface="Calibri"/>
              </a:rPr>
              <a:t>WHAT CHANGES AT EACH STAGE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80644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F6F1E6"/>
                </a:solidFill>
                <a:latin typeface="Georgia"/>
              </a:rPr>
              <a:t>The shape of the data evolves: gene names become canonical IDs; IDs fan out into thousands of references; references collapse to a relevant few; relevant papers become structured evidence; evidence becomes a single decision per gene.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382"/>
                </a:solidFill>
                <a:latin typeface="Calibri"/>
              </a:rPr>
              <a:t>fl.AI  ·  Data Flow Documentation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2"/>
                </a:solidFill>
                <a:latin typeface="Calibri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50">
                <a:solidFill>
                  <a:srgbClr val="F6F1E6"/>
                </a:solidFill>
                <a:latin typeface="Calibri"/>
              </a:rPr>
              <a:t>Stage 1  /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E1F33"/>
                </a:solidFill>
                <a:latin typeface="Georgia"/>
              </a:rPr>
              <a:t>The starting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7382"/>
                </a:solidFill>
                <a:latin typeface="Georgia"/>
              </a:rPr>
              <a:t>What the pipeline is given before any work begins.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31720"/>
            <a:ext cx="11064240" cy="0"/>
          </a:xfrm>
          <a:prstGeom prst="line">
            <a:avLst/>
          </a:prstGeom>
          <a:ln w="12700">
            <a:solidFill>
              <a:srgbClr val="ECE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6060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E8388"/>
                </a:solidFill>
                <a:latin typeface="Calibri"/>
              </a:rPr>
              <a:t>WHAT ENTERS THE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07792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1F33"/>
                </a:solidFill>
                <a:latin typeface="Georgia"/>
              </a:rPr>
              <a:t>A folder of spreadsheets — one per gene set you want to study.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58521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8388"/>
                </a:solidFill>
                <a:latin typeface="Calibri"/>
              </a:rPr>
              <a:t>—  </a:t>
            </a:r>
            <a:r>
              <a:rPr sz="1300">
                <a:solidFill>
                  <a:srgbClr val="3B4452"/>
                </a:solidFill>
                <a:latin typeface="Calibri"/>
              </a:rPr>
              <a:t>Each spreadsheet lists fly gene symbols in a single column.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E8388"/>
                </a:solidFill>
                <a:latin typeface="Calibri"/>
              </a:rPr>
              <a:t>—  </a:t>
            </a:r>
            <a:r>
              <a:rPr sz="1300">
                <a:solidFill>
                  <a:srgbClr val="3B4452"/>
                </a:solidFill>
                <a:latin typeface="Calibri"/>
              </a:rPr>
              <a:t>Different gene sets can come from different experiments.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E8388"/>
                </a:solidFill>
                <a:latin typeface="Calibri"/>
              </a:rPr>
              <a:t>—  </a:t>
            </a:r>
            <a:r>
              <a:rPr sz="1300">
                <a:solidFill>
                  <a:srgbClr val="3B4452"/>
                </a:solidFill>
                <a:latin typeface="Calibri"/>
              </a:rPr>
              <a:t>Researcher also supplies a short list of keywords (the categories of interest).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E8388"/>
                </a:solidFill>
                <a:latin typeface="Calibri"/>
              </a:rPr>
              <a:t>—  </a:t>
            </a:r>
            <a:r>
              <a:rPr sz="1300">
                <a:solidFill>
                  <a:srgbClr val="3B4452"/>
                </a:solidFill>
                <a:latin typeface="Calibri"/>
              </a:rPr>
              <a:t>Optionally, the researcher chooses a target species: fly, human, or mouse.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382"/>
                </a:solidFill>
                <a:latin typeface="Georgia"/>
              </a:rPr>
              <a:t>No special formatting required — the pipeline reads the column you point it 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606040"/>
            <a:ext cx="49377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2606040"/>
            <a:ext cx="4937760" cy="411480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6060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120">
                <a:solidFill>
                  <a:srgbClr val="F6F1E6"/>
                </a:solidFill>
                <a:latin typeface="Calibri"/>
              </a:rPr>
              <a:t>experiment_42.csv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260604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200">
                <a:solidFill>
                  <a:srgbClr val="E0B341"/>
                </a:solidFill>
                <a:latin typeface="Calibri"/>
              </a:rPr>
              <a:t>INPUT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3108960"/>
            <a:ext cx="4937760" cy="347472"/>
          </a:xfrm>
          <a:prstGeom prst="rect">
            <a:avLst/>
          </a:prstGeom>
          <a:solidFill>
            <a:srgbClr val="EC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310896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3B4452"/>
                </a:solidFill>
                <a:latin typeface="Calibri"/>
              </a:rPr>
              <a:t>ext_gene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108960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B7382"/>
                </a:solidFill>
                <a:latin typeface="Calibri"/>
              </a:rPr>
              <a:t>(other columns…)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493008"/>
            <a:ext cx="4937760" cy="29260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349300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E1F33"/>
                </a:solidFill>
                <a:latin typeface="Calibri"/>
              </a:rPr>
              <a:t>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493008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382"/>
                </a:solidFill>
                <a:latin typeface="Calibr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785615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E1F33"/>
                </a:solidFill>
                <a:latin typeface="Calibri"/>
              </a:rPr>
              <a:t>tim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785615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382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078224"/>
            <a:ext cx="4937760" cy="29260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407822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E1F33"/>
                </a:solidFill>
                <a:latin typeface="Calibri"/>
              </a:rPr>
              <a:t>cry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078224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382"/>
                </a:solidFill>
                <a:latin typeface="Calibr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370831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E1F33"/>
                </a:solidFill>
                <a:latin typeface="Calibri"/>
              </a:rPr>
              <a:t>Clk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370831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382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663440"/>
            <a:ext cx="4937760" cy="29260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46634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E1F33"/>
                </a:solidFill>
                <a:latin typeface="Calibri"/>
              </a:rPr>
              <a:t>cyc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663440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382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95604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E1F33"/>
                </a:solidFill>
                <a:latin typeface="Calibri"/>
              </a:rPr>
              <a:t>vri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956048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382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5248656"/>
            <a:ext cx="4937760" cy="29260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524865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E1F33"/>
                </a:solidFill>
                <a:latin typeface="Calibri"/>
              </a:rPr>
              <a:t>dco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5248656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382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554126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E1F33"/>
                </a:solidFill>
                <a:latin typeface="Calibri"/>
              </a:rPr>
              <a:t>Pdf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5541264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382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5833872"/>
            <a:ext cx="4937760" cy="29260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583387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E1F33"/>
                </a:solidFill>
                <a:latin typeface="Calibri"/>
              </a:rPr>
              <a:t>redeye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5833872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382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6355080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3B4452"/>
                </a:solidFill>
                <a:latin typeface="Calibri"/>
              </a:rPr>
              <a:t>Keywords: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35240" y="63550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6355080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sleep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68512" y="63550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68512" y="6355080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circadian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01784" y="63550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01784" y="6355080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synapse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382"/>
                </a:solidFill>
                <a:latin typeface="Calibri"/>
              </a:rPr>
              <a:t>fl.AI  ·  Data Flow Documentation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2"/>
                </a:solidFill>
                <a:latin typeface="Calibri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50">
                <a:solidFill>
                  <a:srgbClr val="F6F1E6"/>
                </a:solidFill>
                <a:latin typeface="Calibri"/>
              </a:rPr>
              <a:t>Stage 2  /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E1F33"/>
                </a:solidFill>
                <a:latin typeface="Georgia"/>
              </a:rPr>
              <a:t>Identifying each gene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7382"/>
                </a:solidFill>
                <a:latin typeface="Georgia"/>
              </a:rPr>
              <a:t>Turning informal gene names into canonical, unambiguous identifiers.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31720"/>
            <a:ext cx="11064240" cy="0"/>
          </a:xfrm>
          <a:prstGeom prst="line">
            <a:avLst/>
          </a:prstGeom>
          <a:ln w="12700">
            <a:solidFill>
              <a:srgbClr val="ECE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7889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80">
                <a:solidFill>
                  <a:srgbClr val="0E1F33"/>
                </a:solidFill>
                <a:latin typeface="Georgia"/>
              </a:rPr>
              <a:t>Symbol  →  Canonical fly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382"/>
                </a:solidFill>
                <a:latin typeface="Georgia"/>
              </a:rPr>
              <a:t>Researcher symbols are matched to the official FlyBase identifier for each gene, plus its primary symbol and known synonyms.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79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EC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840479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1F33"/>
                </a:solidFill>
                <a:latin typeface="Calibri"/>
              </a:rPr>
              <a:t>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84047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B7382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3840479"/>
            <a:ext cx="3749039" cy="502920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3840479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look up canonical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4047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B7382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840479"/>
            <a:ext cx="4937760" cy="502920"/>
          </a:xfrm>
          <a:prstGeom prst="roundRect">
            <a:avLst>
              <a:gd name="adj" fmla="val 50000"/>
            </a:avLst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840479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period   ·   FBgn0003068   ·   synonyms…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4434840"/>
            <a:ext cx="11064240" cy="0"/>
          </a:xfrm>
          <a:prstGeom prst="line">
            <a:avLst/>
          </a:prstGeom>
          <a:ln w="9525">
            <a:solidFill>
              <a:srgbClr val="ECE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4617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80">
                <a:solidFill>
                  <a:srgbClr val="0E1F33"/>
                </a:solidFill>
                <a:latin typeface="Georgia"/>
              </a:rPr>
              <a:t>Optional  ·  Cross over to another species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382"/>
                </a:solidFill>
                <a:latin typeface="Georgia"/>
              </a:rPr>
              <a:t>If the researcher chooses human or mouse, each fly gene is mapped to its evolutionary counterpart. One fly gene may map to several orthologs; unmapped genes are kept and flagged.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1500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EC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7150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E1F33"/>
                </a:solidFill>
                <a:latin typeface="Calibri"/>
              </a:rPr>
              <a:t>fly gene  (period)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571500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B7382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571500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571500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ortholog mapping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5422392"/>
            <a:ext cx="5120640" cy="502920"/>
          </a:xfrm>
          <a:prstGeom prst="roundRect">
            <a:avLst>
              <a:gd name="adj" fmla="val 50000"/>
            </a:avLst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422392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human  ·  PER1, PER2, PER3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6007608"/>
            <a:ext cx="5120640" cy="502920"/>
          </a:xfrm>
          <a:prstGeom prst="roundRect">
            <a:avLst>
              <a:gd name="adj" fmla="val 50000"/>
            </a:avLst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6007608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mouse  ·  Per1, Per2, Per3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6236208" y="5669280"/>
            <a:ext cx="256032" cy="292608"/>
          </a:xfrm>
          <a:prstGeom prst="line">
            <a:avLst/>
          </a:prstGeom>
          <a:ln w="15875">
            <a:solidFill>
              <a:srgbClr val="6B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236208" y="5961888"/>
            <a:ext cx="256032" cy="292608"/>
          </a:xfrm>
          <a:prstGeom prst="line">
            <a:avLst/>
          </a:prstGeom>
          <a:ln w="15875">
            <a:solidFill>
              <a:srgbClr val="6B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382"/>
                </a:solidFill>
                <a:latin typeface="Calibri"/>
              </a:rPr>
              <a:t>fl.AI  ·  Data Flow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2"/>
                </a:solidFill>
                <a:latin typeface="Calibri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50">
                <a:solidFill>
                  <a:srgbClr val="F6F1E6"/>
                </a:solidFill>
                <a:latin typeface="Calibri"/>
              </a:rPr>
              <a:t>Stage 3  /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E1F33"/>
                </a:solidFill>
                <a:latin typeface="Georgia"/>
              </a:rPr>
              <a:t>Casting a wide 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7382"/>
                </a:solidFill>
                <a:latin typeface="Georgia"/>
              </a:rPr>
              <a:t>Pulling every paper that might mention each gene, from the right places.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31720"/>
            <a:ext cx="11064240" cy="0"/>
          </a:xfrm>
          <a:prstGeom prst="line">
            <a:avLst/>
          </a:prstGeom>
          <a:ln w="12700">
            <a:solidFill>
              <a:srgbClr val="ECE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606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B4452"/>
                </a:solidFill>
                <a:latin typeface="Georgia"/>
              </a:rPr>
              <a:t>The pipeline queries multiple independent databases in parallel. Different species pull from different curated sources — the right tool for the right gene.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37033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383280"/>
            <a:ext cx="3703320" cy="502920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 spc="100">
                <a:solidFill>
                  <a:srgbClr val="FFFFFF"/>
                </a:solidFill>
                <a:latin typeface="Georgia"/>
              </a:rPr>
              <a:t>Fly 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6B7382"/>
                </a:solidFill>
                <a:latin typeface="Calibri"/>
              </a:rPr>
              <a:t>Sources queried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32461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E1F33"/>
                </a:solidFill>
                <a:latin typeface="Calibri"/>
              </a:rPr>
              <a:t>·  </a:t>
            </a:r>
            <a:r>
              <a:rPr sz="1100">
                <a:solidFill>
                  <a:srgbClr val="3B4452"/>
                </a:solidFill>
                <a:latin typeface="Calibri"/>
              </a:rPr>
              <a:t>FlyBase reference tables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E1F33"/>
                </a:solidFill>
                <a:latin typeface="Calibri"/>
              </a:rPr>
              <a:t>·  </a:t>
            </a:r>
            <a:r>
              <a:rPr sz="1100">
                <a:solidFill>
                  <a:srgbClr val="3B4452"/>
                </a:solidFill>
                <a:latin typeface="Calibri"/>
              </a:rPr>
              <a:t>PubMed scoped to Drosophila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E1F33"/>
                </a:solidFill>
                <a:latin typeface="Calibri"/>
              </a:rPr>
              <a:t>·  </a:t>
            </a:r>
            <a:r>
              <a:rPr sz="1100">
                <a:solidFill>
                  <a:srgbClr val="3B4452"/>
                </a:solidFill>
                <a:latin typeface="Calibri"/>
              </a:rPr>
              <a:t>Europe PMC scoped to Drosophila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1" y="3383280"/>
            <a:ext cx="37033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1" y="3383280"/>
            <a:ext cx="3703320" cy="50292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1" y="338328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 spc="100">
                <a:solidFill>
                  <a:srgbClr val="FFFFFF"/>
                </a:solidFill>
                <a:latin typeface="Georgia"/>
              </a:rPr>
              <a:t>Human 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40233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6B7382"/>
                </a:solidFill>
                <a:latin typeface="Calibri"/>
              </a:rPr>
              <a:t>Sources queried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4343400"/>
            <a:ext cx="32461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E8388"/>
                </a:solidFill>
                <a:latin typeface="Calibri"/>
              </a:rPr>
              <a:t>·  </a:t>
            </a:r>
            <a:r>
              <a:rPr sz="1100">
                <a:solidFill>
                  <a:srgbClr val="3B4452"/>
                </a:solidFill>
                <a:latin typeface="Calibri"/>
              </a:rPr>
              <a:t>HGNC (gene symbols &amp; IDs)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E8388"/>
                </a:solidFill>
                <a:latin typeface="Calibri"/>
              </a:rPr>
              <a:t>·  </a:t>
            </a:r>
            <a:r>
              <a:rPr sz="1100">
                <a:solidFill>
                  <a:srgbClr val="3B4452"/>
                </a:solidFill>
                <a:latin typeface="Calibri"/>
              </a:rPr>
              <a:t>NCBI gene-to-paper links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E8388"/>
                </a:solidFill>
                <a:latin typeface="Calibri"/>
              </a:rPr>
              <a:t>·  </a:t>
            </a:r>
            <a:r>
              <a:rPr sz="1100">
                <a:solidFill>
                  <a:srgbClr val="3B4452"/>
                </a:solidFill>
                <a:latin typeface="Calibri"/>
              </a:rPr>
              <a:t>GeneRIF curated annotations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E8388"/>
                </a:solidFill>
                <a:latin typeface="Calibri"/>
              </a:rPr>
              <a:t>·  </a:t>
            </a:r>
            <a:r>
              <a:rPr sz="1100">
                <a:solidFill>
                  <a:srgbClr val="3B4452"/>
                </a:solidFill>
                <a:latin typeface="Calibri"/>
              </a:rPr>
              <a:t>UniProt reviewed entries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E8388"/>
                </a:solidFill>
                <a:latin typeface="Calibri"/>
              </a:rPr>
              <a:t>·  </a:t>
            </a:r>
            <a:r>
              <a:rPr sz="1100">
                <a:solidFill>
                  <a:srgbClr val="3B4452"/>
                </a:solidFill>
                <a:latin typeface="Calibri"/>
              </a:rPr>
              <a:t>PubMed &amp; Europe PMC scoped to human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3" y="3383280"/>
            <a:ext cx="37033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3023" y="3383280"/>
            <a:ext cx="3703320" cy="502920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338328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 spc="100">
                <a:solidFill>
                  <a:srgbClr val="FFFFFF"/>
                </a:solidFill>
                <a:latin typeface="Georgia"/>
              </a:rPr>
              <a:t>Mouse 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40233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6B7382"/>
                </a:solidFill>
                <a:latin typeface="Calibri"/>
              </a:rPr>
              <a:t>Sources queried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4343400"/>
            <a:ext cx="32461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76F53"/>
                </a:solidFill>
                <a:latin typeface="Calibri"/>
              </a:rPr>
              <a:t>·  </a:t>
            </a:r>
            <a:r>
              <a:rPr sz="1100">
                <a:solidFill>
                  <a:srgbClr val="3B4452"/>
                </a:solidFill>
                <a:latin typeface="Calibri"/>
              </a:rPr>
              <a:t>MGI marker reports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6F53"/>
                </a:solidFill>
                <a:latin typeface="Calibri"/>
              </a:rPr>
              <a:t>·  </a:t>
            </a:r>
            <a:r>
              <a:rPr sz="1100">
                <a:solidFill>
                  <a:srgbClr val="3B4452"/>
                </a:solidFill>
                <a:latin typeface="Calibri"/>
              </a:rPr>
              <a:t>NCBI gene-to-paper links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6F53"/>
                </a:solidFill>
                <a:latin typeface="Calibri"/>
              </a:rPr>
              <a:t>·  </a:t>
            </a:r>
            <a:r>
              <a:rPr sz="1100">
                <a:solidFill>
                  <a:srgbClr val="3B4452"/>
                </a:solidFill>
                <a:latin typeface="Calibri"/>
              </a:rPr>
              <a:t>GeneRIF curated annotations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6F53"/>
                </a:solidFill>
                <a:latin typeface="Calibri"/>
              </a:rPr>
              <a:t>·  </a:t>
            </a:r>
            <a:r>
              <a:rPr sz="1100">
                <a:solidFill>
                  <a:srgbClr val="3B4452"/>
                </a:solidFill>
                <a:latin typeface="Calibri"/>
              </a:rPr>
              <a:t>UniProt reviewed entries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6F53"/>
                </a:solidFill>
                <a:latin typeface="Calibri"/>
              </a:rPr>
              <a:t>·  </a:t>
            </a:r>
            <a:r>
              <a:rPr sz="1100">
                <a:solidFill>
                  <a:srgbClr val="3B4452"/>
                </a:solidFill>
                <a:latin typeface="Calibri"/>
              </a:rPr>
              <a:t>PubMed &amp; Europe PMC scoped to mouse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E1F33"/>
                </a:solidFill>
                <a:latin typeface="Georgia"/>
              </a:rPr>
              <a:t>→  Output of this stage:  one combined pool of candidate references for every gene, with each source tagged.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382"/>
                </a:solidFill>
                <a:latin typeface="Calibri"/>
              </a:rPr>
              <a:t>fl.AI  ·  Data Flow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2"/>
                </a:solidFill>
                <a:latin typeface="Calibri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50">
                <a:solidFill>
                  <a:srgbClr val="F6F1E6"/>
                </a:solidFill>
                <a:latin typeface="Calibri"/>
              </a:rPr>
              <a:t>Stage 4  /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E1F33"/>
                </a:solidFill>
                <a:latin typeface="Georgia"/>
              </a:rPr>
              <a:t>From a pile of papers to a focused shortlist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7382"/>
                </a:solidFill>
                <a:latin typeface="Georgia"/>
              </a:rPr>
              <a:t>Three quick passes turn a noisy pool of references into a tight reading list.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31720"/>
            <a:ext cx="11064240" cy="0"/>
          </a:xfrm>
          <a:prstGeom prst="line">
            <a:avLst/>
          </a:prstGeom>
          <a:ln w="12700">
            <a:solidFill>
              <a:srgbClr val="ECE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743200"/>
            <a:ext cx="1106424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146304" cy="868680"/>
          </a:xfrm>
          <a:prstGeom prst="rect">
            <a:avLst/>
          </a:prstGeom>
          <a:solidFill>
            <a:srgbClr val="1A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28048" y="299008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A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28048" y="299008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~30 references / gene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84673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D46"/>
                </a:solidFill>
                <a:latin typeface="Georgia"/>
              </a:rPr>
              <a:t>Deduplicate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127248"/>
            <a:ext cx="84673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3B4452"/>
                </a:solidFill>
                <a:latin typeface="Calibri"/>
              </a:rPr>
              <a:t>Combine results from every database. The same paper found by three different sources counts once, but is remembered as a stronger signal.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51460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B7382"/>
                </a:solidFill>
                <a:latin typeface="Calibri"/>
              </a:rPr>
              <a:t>RAW POOL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3913631"/>
            <a:ext cx="868680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3913631"/>
            <a:ext cx="146304" cy="86868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39328" y="4160519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4160519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~15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6543" y="3986783"/>
            <a:ext cx="60899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8388"/>
                </a:solidFill>
                <a:latin typeface="Georgia"/>
              </a:rPr>
              <a:t>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66543" y="4297679"/>
            <a:ext cx="6089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3B4452"/>
                </a:solidFill>
                <a:latin typeface="Calibri"/>
              </a:rPr>
              <a:t>Papers cited by more sources rise to the top. Newer papers break ties. The list is then capped at a researcher-chosen size.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66543" y="3685031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B7382"/>
                </a:solidFill>
                <a:latin typeface="Calibri"/>
              </a:rPr>
              <a:t>RANKED &amp; CAPPED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5084064"/>
            <a:ext cx="640080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80360" y="5084064"/>
            <a:ext cx="146304" cy="868680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96328" y="5330952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6328" y="533095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~10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9544" y="5157216"/>
            <a:ext cx="38039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76F53"/>
                </a:solidFill>
                <a:latin typeface="Georgia"/>
              </a:rPr>
              <a:t>Filter by keywords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9544" y="5468112"/>
            <a:ext cx="3803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3B4452"/>
                </a:solidFill>
                <a:latin typeface="Calibri"/>
              </a:rPr>
              <a:t>Each paper's title and abstract is scanned for the researcher's keywords. Papers with no relevant signal are set aside.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9544" y="4855464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B7382"/>
                </a:solidFill>
                <a:latin typeface="Calibri"/>
              </a:rPr>
              <a:t>KEYWORD-RELEVANT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382"/>
                </a:solidFill>
                <a:latin typeface="Calibri"/>
              </a:rPr>
              <a:t>fl.AI  ·  Data Flow Documentation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2"/>
                </a:solidFill>
                <a:latin typeface="Calibri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50">
                <a:solidFill>
                  <a:srgbClr val="F6F1E6"/>
                </a:solidFill>
                <a:latin typeface="Calibri"/>
              </a:rPr>
              <a:t>Stage 5  /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E1F33"/>
                </a:solidFill>
                <a:latin typeface="Georgia"/>
              </a:rPr>
              <a:t>Reading the 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7382"/>
                </a:solidFill>
                <a:latin typeface="Georgia"/>
              </a:rPr>
              <a:t>Each surviving reference is read in full, and the gene-relevant evidence is captured in plain language.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31720"/>
            <a:ext cx="11064240" cy="0"/>
          </a:xfrm>
          <a:prstGeom prst="line">
            <a:avLst/>
          </a:prstGeom>
          <a:ln w="12700">
            <a:solidFill>
              <a:srgbClr val="ECE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F33"/>
                </a:solidFill>
                <a:latin typeface="Georgia"/>
              </a:rPr>
              <a:t>How a paper becomes a summary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6F1E6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2783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B4452"/>
                </a:solidFill>
                <a:latin typeface="Calibri"/>
              </a:rPr>
              <a:t>Try to retrieve the full text from any open-access route available.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382"/>
                </a:solidFill>
                <a:latin typeface="Calibri"/>
              </a:rPr>
              <a:t>If full text is not available, fall back to the title and abstract.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6F1E6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1655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B4452"/>
                </a:solidFill>
                <a:latin typeface="Calibri"/>
              </a:rPr>
              <a:t>The model reads what it has and writes a focused, evidence-only summary about this one gene — function, phenotype, and how the paper supports the researcher's keywords.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303520"/>
            <a:ext cx="384048" cy="384048"/>
          </a:xfrm>
          <a:prstGeom prst="ellipse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3035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6F1E6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28523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B4452"/>
                </a:solidFill>
                <a:latin typeface="Calibri"/>
              </a:rPr>
              <a:t>Summaries that say 'no evidence found' are dropped, so only informative summaries reach the next stage.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F33"/>
                </a:solidFill>
                <a:latin typeface="Georgia"/>
              </a:rPr>
              <a:t>What one summary looks like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00400"/>
            <a:ext cx="5212080" cy="3383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00400"/>
            <a:ext cx="5212080" cy="384048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20040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80">
                <a:solidFill>
                  <a:srgbClr val="F6F1E6"/>
                </a:solidFill>
                <a:latin typeface="Calibri"/>
              </a:rPr>
              <a:t>period  ·  one paper  ·  evidence-only 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7033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70332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FUNCTION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666744"/>
            <a:ext cx="3520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B4452"/>
                </a:solidFill>
                <a:latin typeface="Calibri"/>
              </a:rPr>
              <a:t>A core component of the fly circadian clock; rhythmically represses clock-gene transcription on a 24-hour cycle.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6177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61772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PHENOTYPE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581144"/>
            <a:ext cx="3520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B4452"/>
                </a:solidFill>
                <a:latin typeface="Calibri"/>
              </a:rPr>
              <a:t>Loss-of-function mutants are behaviourally arrhythmic; sleep is severely disrupted in null animals.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55321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0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553212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RELEVANCE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495544"/>
            <a:ext cx="3520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B4452"/>
                </a:solidFill>
                <a:latin typeface="Calibri"/>
              </a:rPr>
              <a:t>Direct, multi-experiment support for both the 'sleep' and 'circadian' keywords used in this run.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382"/>
                </a:solidFill>
                <a:latin typeface="Calibri"/>
              </a:rPr>
              <a:t>fl.AI  ·  Data Flow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2"/>
                </a:solidFill>
                <a:latin typeface="Calibri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50">
                <a:solidFill>
                  <a:srgbClr val="F6F1E6"/>
                </a:solidFill>
                <a:latin typeface="Calibri"/>
              </a:rPr>
              <a:t>Stage 6  /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E1F33"/>
                </a:solidFill>
                <a:latin typeface="Georgia"/>
              </a:rPr>
              <a:t>Classifying each gene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7382"/>
                </a:solidFill>
                <a:latin typeface="Georgia"/>
              </a:rPr>
              <a:t>All the evidence for one gene is brought together, weighed, and turned into a single verdict.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31720"/>
            <a:ext cx="11064240" cy="0"/>
          </a:xfrm>
          <a:prstGeom prst="line">
            <a:avLst/>
          </a:prstGeom>
          <a:ln w="12700">
            <a:solidFill>
              <a:srgbClr val="ECE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6974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1F33"/>
                </a:solidFill>
                <a:latin typeface="Georgia"/>
              </a:rPr>
              <a:t>Many summaries  →  one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128016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91440" cy="64008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25526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1F33"/>
                </a:solidFill>
                <a:latin typeface="Calibri"/>
              </a:rPr>
              <a:t>summary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493008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382"/>
                </a:solidFill>
                <a:latin typeface="Calibri"/>
              </a:rPr>
              <a:t>evidence excerpt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3200400"/>
            <a:ext cx="128016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65960" y="3200400"/>
            <a:ext cx="91440" cy="64008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30552" y="325526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1F33"/>
                </a:solidFill>
                <a:latin typeface="Calibri"/>
              </a:rPr>
              <a:t>summary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0552" y="3493008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382"/>
                </a:solidFill>
                <a:latin typeface="Calibri"/>
              </a:rPr>
              <a:t>evidence excerpt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200400"/>
            <a:ext cx="128016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3200400"/>
            <a:ext cx="91440" cy="64008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325526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1F33"/>
                </a:solidFill>
                <a:latin typeface="Calibri"/>
              </a:rPr>
              <a:t>summary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493008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382"/>
                </a:solidFill>
                <a:latin typeface="Calibri"/>
              </a:rPr>
              <a:t>evidence excerpt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77639"/>
            <a:ext cx="128016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977639"/>
            <a:ext cx="91440" cy="64008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032503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1F33"/>
                </a:solidFill>
                <a:latin typeface="Calibri"/>
              </a:rPr>
              <a:t>summary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270248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382"/>
                </a:solidFill>
                <a:latin typeface="Calibri"/>
              </a:rPr>
              <a:t>evidence excerpt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65960" y="3977639"/>
            <a:ext cx="128016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65960" y="3977639"/>
            <a:ext cx="91440" cy="64008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30552" y="4032503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1F33"/>
                </a:solidFill>
                <a:latin typeface="Calibri"/>
              </a:rPr>
              <a:t>summary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0552" y="4270248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382"/>
                </a:solidFill>
                <a:latin typeface="Calibri"/>
              </a:rPr>
              <a:t>evidence excerpt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3977639"/>
            <a:ext cx="128016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3280" y="3977639"/>
            <a:ext cx="91440" cy="64008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47872" y="4032503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1F33"/>
                </a:solidFill>
                <a:latin typeface="Calibri"/>
              </a:rPr>
              <a:t>summary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7872" y="4270248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382"/>
                </a:solidFill>
                <a:latin typeface="Calibri"/>
              </a:rPr>
              <a:t>evidence excerpt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6118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 i="0">
                <a:solidFill>
                  <a:srgbClr val="F76F53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3154680"/>
            <a:ext cx="5486400" cy="1691640"/>
          </a:xfrm>
          <a:prstGeom prst="roundRect">
            <a:avLst>
              <a:gd name="adj" fmla="val 4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2918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E0B341"/>
                </a:solidFill>
                <a:latin typeface="Calibri"/>
              </a:rPr>
              <a:t>VERDICT  ·  period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657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20">
                <a:solidFill>
                  <a:srgbClr val="C8CED8"/>
                </a:solidFill>
                <a:latin typeface="Calibri"/>
              </a:rPr>
              <a:t>Category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3611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76F53"/>
                </a:solidFill>
                <a:latin typeface="Georgia"/>
              </a:rPr>
              <a:t>sleep   ·   circadian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069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20">
                <a:solidFill>
                  <a:srgbClr val="C8CED8"/>
                </a:solidFill>
                <a:latin typeface="Calibri"/>
              </a:rPr>
              <a:t>Confidence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40233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6F1E6"/>
                </a:solidFill>
                <a:latin typeface="Georgia"/>
              </a:rPr>
              <a:t>94 / 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4805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20">
                <a:solidFill>
                  <a:srgbClr val="C8CED8"/>
                </a:solidFill>
                <a:latin typeface="Calibri"/>
              </a:rPr>
              <a:t>Rationale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4434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F6F1E6"/>
                </a:solidFill>
                <a:latin typeface="Georgia"/>
              </a:rPr>
              <a:t>Multiple papers document arrhythmia and severe sleep disruption.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8640" y="5074920"/>
            <a:ext cx="11064240" cy="0"/>
          </a:xfrm>
          <a:prstGeom prst="line">
            <a:avLst/>
          </a:prstGeom>
          <a:ln w="9525">
            <a:solidFill>
              <a:srgbClr val="ECE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8640" y="52120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E8388"/>
                </a:solidFill>
                <a:latin typeface="Calibri"/>
              </a:rPr>
              <a:t>HOW TO READ THE CONFIDENCE SCORE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532120"/>
            <a:ext cx="3657600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532120"/>
            <a:ext cx="146304" cy="77724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623559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1F33"/>
                </a:solidFill>
                <a:latin typeface="Georgia"/>
              </a:rPr>
              <a:t>80 – 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59" y="5943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B4452"/>
                </a:solidFill>
                <a:latin typeface="Calibri"/>
              </a:rPr>
              <a:t>Strong, multi-paper support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51959" y="5532120"/>
            <a:ext cx="3657600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51959" y="5532120"/>
            <a:ext cx="146304" cy="777240"/>
          </a:xfrm>
          <a:prstGeom prst="rect">
            <a:avLst/>
          </a:prstGeom>
          <a:solidFill>
            <a:srgbClr val="E0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26279" y="5623559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1F33"/>
                </a:solidFill>
                <a:latin typeface="Georgia"/>
              </a:rPr>
              <a:t>50 – 79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79" y="5943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B4452"/>
                </a:solidFill>
                <a:latin typeface="Calibri"/>
              </a:rPr>
              <a:t>Partial or indirect evidence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55279" y="5532120"/>
            <a:ext cx="3657600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55279" y="5532120"/>
            <a:ext cx="146304" cy="777240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0" y="5623559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1F33"/>
                </a:solidFill>
                <a:latin typeface="Georgia"/>
              </a:rPr>
              <a:t>Below 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943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B4452"/>
                </a:solidFill>
                <a:latin typeface="Calibri"/>
              </a:rPr>
              <a:t>Weak or ambiguous — treat as a lead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382"/>
                </a:solidFill>
                <a:latin typeface="Calibri"/>
              </a:rPr>
              <a:t>fl.AI  ·  Data Flow Documentation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2"/>
                </a:solidFill>
                <a:latin typeface="Calibri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50">
                <a:solidFill>
                  <a:srgbClr val="F6F1E6"/>
                </a:solidFill>
                <a:latin typeface="Calibri"/>
              </a:rPr>
              <a:t>Stage 7  /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E1F33"/>
                </a:solidFill>
                <a:latin typeface="Georgia"/>
              </a:rPr>
              <a:t>Delivering the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7382"/>
                </a:solidFill>
                <a:latin typeface="Georgia"/>
              </a:rPr>
              <a:t>Everything the pipeline learned about your gene set, in one structured Excel workbook.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31720"/>
            <a:ext cx="11064240" cy="0"/>
          </a:xfrm>
          <a:prstGeom prst="line">
            <a:avLst/>
          </a:prstGeom>
          <a:ln w="12700">
            <a:solidFill>
              <a:srgbClr val="ECE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743200"/>
            <a:ext cx="5120640" cy="3383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1706879" cy="457200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7068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FFFFFF"/>
                </a:solidFill>
                <a:latin typeface="Calibri"/>
              </a:rPr>
              <a:t>Gene 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5519" y="2743200"/>
            <a:ext cx="1706879" cy="45720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519" y="2743200"/>
            <a:ext cx="17068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FFFFFF"/>
                </a:solidFill>
                <a:latin typeface="Calibri"/>
              </a:rPr>
              <a:t>Classification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2399" y="2743200"/>
            <a:ext cx="1706879" cy="457200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2399" y="2743200"/>
            <a:ext cx="17068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FFFFFF"/>
                </a:solidFill>
                <a:latin typeface="Calibri"/>
              </a:rPr>
              <a:t>Reference Summaries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291840"/>
            <a:ext cx="4846320" cy="292608"/>
          </a:xfrm>
          <a:prstGeom prst="rect">
            <a:avLst/>
          </a:prstGeom>
          <a:solidFill>
            <a:srgbClr val="EC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3B4452"/>
                </a:solidFill>
                <a:latin typeface="Calibri"/>
              </a:rPr>
              <a:t>Gene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29184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3B4452"/>
                </a:solidFill>
                <a:latin typeface="Calibri"/>
              </a:rPr>
              <a:t>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2918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3B4452"/>
                </a:solidFill>
                <a:latin typeface="Calibri"/>
              </a:rPr>
              <a:t>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291840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3B4452"/>
                </a:solidFill>
                <a:latin typeface="Calibri"/>
              </a:rPr>
              <a:t>Conf.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621024"/>
            <a:ext cx="4846320" cy="36576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210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E1F33"/>
                </a:solidFill>
                <a:latin typeface="Calibri"/>
              </a:rPr>
              <a:t>period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6210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382"/>
                </a:solidFill>
                <a:latin typeface="Calibri"/>
              </a:rPr>
              <a:t>FBgn0003068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62102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76F53"/>
                </a:solidFill>
                <a:latin typeface="Calibri"/>
              </a:rPr>
              <a:t>sleep · circadian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621024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E1F33"/>
                </a:solidFill>
                <a:latin typeface="Calibri"/>
              </a:rPr>
              <a:t>94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98678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E1F33"/>
                </a:solidFill>
                <a:latin typeface="Calibri"/>
              </a:rPr>
              <a:t>timeless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398678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382"/>
                </a:solidFill>
                <a:latin typeface="Calibri"/>
              </a:rPr>
              <a:t>FBgn0014396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9867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E8388"/>
                </a:solidFill>
                <a:latin typeface="Calibri"/>
              </a:rPr>
              <a:t>circadian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986784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E1F33"/>
                </a:solidFill>
                <a:latin typeface="Calibri"/>
              </a:rPr>
              <a:t>91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352544"/>
            <a:ext cx="4846320" cy="36576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35254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E1F33"/>
                </a:solidFill>
                <a:latin typeface="Calibri"/>
              </a:rPr>
              <a:t>redeye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435254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382"/>
                </a:solidFill>
                <a:latin typeface="Calibri"/>
              </a:rPr>
              <a:t>FBgn0031722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435254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E0B341"/>
                </a:solidFill>
                <a:latin typeface="Calibri"/>
              </a:rPr>
              <a:t>sleep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4352544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E1F33"/>
                </a:solidFill>
                <a:latin typeface="Calibri"/>
              </a:rPr>
              <a:t>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71830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E1F33"/>
                </a:solidFill>
                <a:latin typeface="Calibri"/>
              </a:rPr>
              <a:t>bruchpilot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471830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382"/>
                </a:solidFill>
                <a:latin typeface="Calibri"/>
              </a:rPr>
              <a:t>FBgn0025682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471830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E8388"/>
                </a:solidFill>
                <a:latin typeface="Calibri"/>
              </a:rPr>
              <a:t>synapse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4718304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E1F33"/>
                </a:solidFill>
                <a:latin typeface="Calibri"/>
              </a:rPr>
              <a:t>88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5084064"/>
            <a:ext cx="4846320" cy="36576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08406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E1F33"/>
                </a:solidFill>
                <a:latin typeface="Calibri"/>
              </a:rPr>
              <a:t>sifamide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08406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382"/>
                </a:solidFill>
                <a:latin typeface="Calibri"/>
              </a:rPr>
              <a:t>FBgn0039170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508406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E0B341"/>
                </a:solidFill>
                <a:latin typeface="Calibri"/>
              </a:rPr>
              <a:t>sleep · metab.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5084064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E1F33"/>
                </a:solidFill>
                <a:latin typeface="Calibri"/>
              </a:rPr>
              <a:t>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2697480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E8388"/>
                </a:solidFill>
                <a:latin typeface="Calibri"/>
              </a:rPr>
              <a:t>WHAT EACH SHEET CONTAINS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108960"/>
            <a:ext cx="146304" cy="960120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3108960"/>
            <a:ext cx="52852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1F33"/>
                </a:solidFill>
                <a:latin typeface="Georgia"/>
              </a:rPr>
              <a:t>Gene Set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3438144"/>
            <a:ext cx="528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3B4452"/>
                </a:solidFill>
                <a:latin typeface="Calibri"/>
              </a:rPr>
              <a:t>Every gene the pipeline started with. For ortholog runs, each fly gene appears alongside the species crossover it produced.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4206240"/>
            <a:ext cx="146304" cy="96012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4206240"/>
            <a:ext cx="52852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8388"/>
                </a:solidFill>
                <a:latin typeface="Georgia"/>
              </a:rPr>
              <a:t>Classification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7648" y="4535424"/>
            <a:ext cx="528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3B4452"/>
                </a:solidFill>
                <a:latin typeface="Calibri"/>
              </a:rPr>
              <a:t>One row per gene with its assigned categories, confidence score, and a short evidence-backed rationale.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5303520"/>
            <a:ext cx="146304" cy="960120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7648" y="5303520"/>
            <a:ext cx="52852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76F53"/>
                </a:solidFill>
                <a:latin typeface="Georgia"/>
              </a:rPr>
              <a:t>Reference Summaries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27648" y="5632704"/>
            <a:ext cx="528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3B4452"/>
                </a:solidFill>
                <a:latin typeface="Calibri"/>
              </a:rPr>
              <a:t>Every paper the pipeline read, with title, year, source database, and the structured evidence summary that fed the classification.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382"/>
                </a:solidFill>
                <a:latin typeface="Calibri"/>
              </a:rPr>
              <a:t>fl.AI  ·  Data Flow Documentation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2"/>
                </a:solidFill>
                <a:latin typeface="Calibri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E1F33"/>
                </a:solidFill>
                <a:latin typeface="Calibri"/>
              </a:rPr>
              <a:t>FLOWCHART  ·  FLY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8686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E1F33"/>
                </a:solidFill>
                <a:latin typeface="Georgia"/>
              </a:rPr>
              <a:t>How fly mode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2"/>
                </a:solidFill>
                <a:latin typeface="Georgia"/>
              </a:rPr>
              <a:t>Fly gene symbols stay in fly throughout — no ortholog crossover.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94392" y="86868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4392" y="86868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200">
                <a:solidFill>
                  <a:srgbClr val="FFFFFF"/>
                </a:solidFill>
                <a:latin typeface="Georgia"/>
              </a:rPr>
              <a:t>FLY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331720"/>
            <a:ext cx="11064240" cy="0"/>
          </a:xfrm>
          <a:prstGeom prst="line">
            <a:avLst/>
          </a:prstGeom>
          <a:ln w="12700">
            <a:solidFill>
              <a:srgbClr val="ECE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606040"/>
            <a:ext cx="26289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109728" cy="1188720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4620" y="26974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E1F33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9748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Read input gene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026664"/>
            <a:ext cx="22448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Open the input CSV and pull fly gene symbols from the chosen column.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0420" y="2606040"/>
            <a:ext cx="26289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0420" y="2606040"/>
            <a:ext cx="109728" cy="1188720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26974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E1F33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7308" y="269748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Resolve fly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7308" y="3026664"/>
            <a:ext cx="22448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Match each symbol to its FlyBase identifier, primary symbol, and known synonyms.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606040"/>
            <a:ext cx="26289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606040"/>
            <a:ext cx="109728" cy="1188720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8179" y="26974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E1F33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69748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Gather 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026664"/>
            <a:ext cx="22448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Query FlyBase, plus PubMed and Europe PMC scoped to Drosophila / fruit fly.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3980" y="2606040"/>
            <a:ext cx="26289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3980" y="2606040"/>
            <a:ext cx="109728" cy="1188720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09960" y="26974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E1F33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0868" y="269748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Merge and deduplicate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0868" y="3026664"/>
            <a:ext cx="22448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Combine results across sources; the same paper found by multiple sources counts once but ranks higher.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3980" y="4297680"/>
            <a:ext cx="26289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83980" y="4297680"/>
            <a:ext cx="109728" cy="1188720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09960" y="43891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E1F33"/>
                </a:solidFill>
                <a:latin typeface="Georgia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0868" y="438912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Rank and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0868" y="4718304"/>
            <a:ext cx="22448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Sort by source consensus and recency, then keep the top references up to the run's reference limit.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297680"/>
            <a:ext cx="26289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4297680"/>
            <a:ext cx="109728" cy="1188720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98179" y="43891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E1F33"/>
                </a:solidFill>
                <a:latin typeface="Georgia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438912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Filter by keywords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4718304"/>
            <a:ext cx="22448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Scan each paper's title and abstract for the researcher's keywords; drop those with no relevant signal.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60420" y="4297680"/>
            <a:ext cx="26289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60420" y="4297680"/>
            <a:ext cx="109728" cy="1188720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0" y="43891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E1F33"/>
                </a:solidFill>
                <a:latin typeface="Georgia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7308" y="438912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Read and summarise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7308" y="4718304"/>
            <a:ext cx="22448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Pull full text where possible. The model writes a focused, evidence-only summary per paper, per gene.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297680"/>
            <a:ext cx="26289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297680"/>
            <a:ext cx="109728" cy="1188720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74620" y="43891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E1F33"/>
                </a:solidFill>
                <a:latin typeface="Georgia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" y="438912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Classify the gene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8" y="4718304"/>
            <a:ext cx="22448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Aggregate surviving summaries into one verdict: category, confidence, and evidence-backed rationale.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77540" y="303580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E1F33"/>
                </a:solidFill>
                <a:latin typeface="Calibri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303580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E1F33"/>
                </a:solidFill>
                <a:latin typeface="Calibri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01100" y="303580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E1F33"/>
                </a:solidFill>
                <a:latin typeface="Calibri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33838" y="3794760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E1F33"/>
                </a:solidFill>
                <a:latin typeface="Calibri"/>
              </a:rPr>
              <a:t>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01100" y="472744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E1F33"/>
                </a:solidFill>
                <a:latin typeface="Calibri"/>
              </a:rPr>
              <a:t>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472744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E1F33"/>
                </a:solidFill>
                <a:latin typeface="Calibri"/>
              </a:rPr>
              <a:t>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77540" y="472744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E1F33"/>
                </a:solidFill>
                <a:latin typeface="Calibri"/>
              </a:rPr>
              <a:t>←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57607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0B341"/>
                </a:solidFill>
                <a:latin typeface="Calibri"/>
              </a:rPr>
              <a:t>INPUT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6035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6F1E6"/>
                </a:solidFill>
                <a:latin typeface="Georgia"/>
              </a:rPr>
              <a:t>Folder of CSVs with fly gene symbols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0" y="5852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E1F33"/>
                </a:solidFill>
                <a:latin typeface="Calibri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57607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0B341"/>
                </a:solidFill>
                <a:latin typeface="Calibri"/>
              </a:rPr>
              <a:t>OUTPUT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2240" y="6035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6F1E6"/>
                </a:solidFill>
                <a:latin typeface="Georgia"/>
              </a:rPr>
              <a:t>&lt;input_name&gt;_classification.xlsx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382"/>
                </a:solidFill>
                <a:latin typeface="Calibri"/>
              </a:rPr>
              <a:t>fl.AI  ·  Data Flow Documentation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2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E8388"/>
                </a:solidFill>
                <a:latin typeface="Calibri"/>
              </a:rPr>
              <a:t>FLOWCHART  ·  HUMAN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8686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E1F33"/>
                </a:solidFill>
                <a:latin typeface="Georgia"/>
              </a:rPr>
              <a:t>How human mode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2"/>
                </a:solidFill>
                <a:latin typeface="Georgia"/>
              </a:rPr>
              <a:t>Fly genes are mapped to their human orthologs before any literature is collected.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94392" y="86868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4392" y="86868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200">
                <a:solidFill>
                  <a:srgbClr val="FFFFFF"/>
                </a:solidFill>
                <a:latin typeface="Georgia"/>
              </a:rPr>
              <a:t>HUMAN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331720"/>
            <a:ext cx="11064240" cy="0"/>
          </a:xfrm>
          <a:prstGeom prst="line">
            <a:avLst/>
          </a:prstGeom>
          <a:ln w="12700">
            <a:solidFill>
              <a:srgbClr val="ECE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60604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109728" cy="118872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12263" y="26974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E8388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9748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Read input gene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02666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Open the input CSV and pull fly gene symbols from the chosen column.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260604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8064" y="2606040"/>
            <a:ext cx="109728" cy="118872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26974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E8388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2" y="269748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Resolve fly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02666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Match each symbol to its FlyBase identifier, primary symbol, and known synonyms.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7488" y="260604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7488" y="2606040"/>
            <a:ext cx="109728" cy="118872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26974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E8388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5" y="269748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Map to human orthologs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5" y="302666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Cross over to human via DIOPT; one fly gene may map to several human orthologs, all retained.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260604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2606040"/>
            <a:ext cx="109728" cy="118872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0535" y="26974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E8388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69748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Build human gene 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02666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Resolve each human ortholog to its canonical symbol, IDs, and synonyms. Unmapped fly genes are kept and flagged.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46336" y="260604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46336" y="2606040"/>
            <a:ext cx="109728" cy="118872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09959" y="26974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E8388"/>
                </a:solidFill>
                <a:latin typeface="Georgia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3224" y="269748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Gather references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3224" y="302666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Query NCBI gene-to-paper, GeneRIF, UniProt, plus PubMed and Europe PMC scoped to Homo sapiens.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46336" y="429768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46336" y="4297680"/>
            <a:ext cx="109728" cy="118872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09959" y="43891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E8388"/>
                </a:solidFill>
                <a:latin typeface="Georgia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93224" y="438912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Merge and deduplicate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93224" y="471830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Combine results across sources; the same paper found by multiple sources counts once but ranks higher.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96912" y="429768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96912" y="4297680"/>
            <a:ext cx="109728" cy="118872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0535" y="43891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E8388"/>
                </a:solidFill>
                <a:latin typeface="Georgia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38912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Rank and cap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471830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Sort by source consensus and recency, then keep the top references up to the run's reference limit.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47488" y="429768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47488" y="4297680"/>
            <a:ext cx="109728" cy="118872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11112" y="43891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E8388"/>
                </a:solidFill>
                <a:latin typeface="Georgia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94375" y="438912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Filter by keywords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94375" y="471830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Scan each paper's title and abstract for the researcher's keywords; drop those with no relevant signal.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98064" y="429768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98064" y="4297680"/>
            <a:ext cx="109728" cy="118872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61688" y="43891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E8388"/>
                </a:solidFill>
                <a:latin typeface="Georg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44952" y="438912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Read and summarise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44952" y="471830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Pull full text where possible. The model writes a focused, evidence-only summary per paper, per gene.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429768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" y="4297680"/>
            <a:ext cx="109728" cy="118872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12263" y="43891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E8388"/>
                </a:solidFill>
                <a:latin typeface="Georgia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8" y="438912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Classify the gene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8" y="471830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Aggregate surviving summaries into one verdict: category, confidence, and evidence-backed rationale.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15184" y="303580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E8388"/>
                </a:solidFill>
                <a:latin typeface="Calibri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64608" y="303580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E8388"/>
                </a:solidFill>
                <a:latin typeface="Calibri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14031" y="303580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E8388"/>
                </a:solidFill>
                <a:latin typeface="Calibri"/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63455" y="303580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E8388"/>
                </a:solidFill>
                <a:latin typeface="Calibri"/>
              </a:rPr>
              <a:t>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15016" y="3794760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E8388"/>
                </a:solidFill>
                <a:latin typeface="Calibri"/>
              </a:rPr>
              <a:t>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63455" y="472744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E8388"/>
                </a:solidFill>
                <a:latin typeface="Calibri"/>
              </a:rPr>
              <a:t>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14031" y="472744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E8388"/>
                </a:solidFill>
                <a:latin typeface="Calibri"/>
              </a:rPr>
              <a:t>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4608" y="472744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E8388"/>
                </a:solidFill>
                <a:latin typeface="Calibri"/>
              </a:rPr>
              <a:t>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15184" y="472744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E8388"/>
                </a:solidFill>
                <a:latin typeface="Calibri"/>
              </a:rPr>
              <a:t>←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" y="57607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0B341"/>
                </a:solidFill>
                <a:latin typeface="Calibri"/>
              </a:rPr>
              <a:t>INPUT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" y="6035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6F1E6"/>
                </a:solidFill>
                <a:latin typeface="Georgia"/>
              </a:rPr>
              <a:t>Folder of CSVs with fly gene symbols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0" y="5852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E8388"/>
                </a:solidFill>
                <a:latin typeface="Calibri"/>
              </a:rPr>
              <a:t>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2240" y="57607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0B341"/>
                </a:solidFill>
                <a:latin typeface="Calibri"/>
              </a:rPr>
              <a:t>OUTPUT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2240" y="6035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6F1E6"/>
                </a:solidFill>
                <a:latin typeface="Georgia"/>
              </a:rPr>
              <a:t>&lt;input_name&gt;_human_classification.xlsx  +  &lt;input_name&gt;_human.csv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382"/>
                </a:solidFill>
                <a:latin typeface="Calibri"/>
              </a:rPr>
              <a:t>fl.AI  ·  Data Flow Documentation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2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F76F53"/>
                </a:solidFill>
                <a:latin typeface="Calibri"/>
              </a:rPr>
              <a:t>FLOWCHART  ·  MOUSE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8686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E1F33"/>
                </a:solidFill>
                <a:latin typeface="Georgia"/>
              </a:rPr>
              <a:t>How mouse mode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2"/>
                </a:solidFill>
                <a:latin typeface="Georgia"/>
              </a:rPr>
              <a:t>Fly genes are mapped to their mouse orthologs before any literature is collected.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94392" y="86868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4392" y="86868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200">
                <a:solidFill>
                  <a:srgbClr val="FFFFFF"/>
                </a:solidFill>
                <a:latin typeface="Georgia"/>
              </a:rPr>
              <a:t>MOUSE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331720"/>
            <a:ext cx="11064240" cy="0"/>
          </a:xfrm>
          <a:prstGeom prst="line">
            <a:avLst/>
          </a:prstGeom>
          <a:ln w="12700">
            <a:solidFill>
              <a:srgbClr val="ECE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60604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109728" cy="1188720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12263" y="26974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76F53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9748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Read input gene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02666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Open the input CSV and pull fly gene symbols from the chosen column.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260604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8064" y="2606040"/>
            <a:ext cx="109728" cy="1188720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26974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76F53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2" y="269748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Resolve fly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02666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Match each symbol to its FlyBase identifier, primary symbol, and known synonyms.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7488" y="260604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7488" y="2606040"/>
            <a:ext cx="109728" cy="1188720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26974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76F53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5" y="269748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Map to mouse orthologs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5" y="302666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Cross over to mouse via DIOPT; one fly gene may map to several mouse orthologs, all retained.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260604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2606040"/>
            <a:ext cx="109728" cy="1188720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0535" y="26974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76F53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69748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Build mouse gene 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02666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Resolve each mouse ortholog to its canonical symbol, IDs, and synonyms via MGI. Unmapped fly genes are kept and flagged.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46336" y="260604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46336" y="2606040"/>
            <a:ext cx="109728" cy="1188720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09959" y="26974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76F53"/>
                </a:solidFill>
                <a:latin typeface="Georgia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3224" y="269748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Gather references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3224" y="302666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Query NCBI gene-to-paper, GeneRIF, UniProt, plus PubMed and Europe PMC scoped to Mus musculus.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46336" y="429768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46336" y="4297680"/>
            <a:ext cx="109728" cy="1188720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09959" y="43891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76F53"/>
                </a:solidFill>
                <a:latin typeface="Georgia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93224" y="438912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Merge and deduplicate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93224" y="471830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Combine results across sources; the same paper found by multiple sources counts once but ranks higher.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96912" y="429768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96912" y="4297680"/>
            <a:ext cx="109728" cy="1188720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0535" y="43891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76F53"/>
                </a:solidFill>
                <a:latin typeface="Georgia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38912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Rank and cap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471830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Sort by source consensus and recency, then keep the top references up to the run's reference limit.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47488" y="429768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47488" y="4297680"/>
            <a:ext cx="109728" cy="1188720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11112" y="43891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76F53"/>
                </a:solidFill>
                <a:latin typeface="Georgia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94375" y="438912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Filter by keywords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94375" y="471830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Scan each paper's title and abstract for the researcher's keywords; drop those with no relevant signal.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98064" y="429768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98064" y="4297680"/>
            <a:ext cx="109728" cy="1188720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61688" y="43891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76F53"/>
                </a:solidFill>
                <a:latin typeface="Georg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44952" y="438912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Read and summarise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44952" y="471830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Pull full text where possible. The model writes a focused, evidence-only summary per paper, per gene.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4297680"/>
            <a:ext cx="206654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" y="4297680"/>
            <a:ext cx="109728" cy="1188720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12263" y="43891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76F53"/>
                </a:solidFill>
                <a:latin typeface="Georgia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8" y="4389120"/>
            <a:ext cx="1289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3"/>
                </a:solidFill>
                <a:latin typeface="Georgia"/>
              </a:rPr>
              <a:t>Classify the gene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8" y="4718304"/>
            <a:ext cx="16824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B4452"/>
                </a:solidFill>
                <a:latin typeface="Calibri"/>
              </a:rPr>
              <a:t>Aggregate surviving summaries into one verdict: category, confidence, and evidence-backed rationale.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15184" y="303580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76F53"/>
                </a:solidFill>
                <a:latin typeface="Calibri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64608" y="303580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76F53"/>
                </a:solidFill>
                <a:latin typeface="Calibri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14031" y="303580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76F53"/>
                </a:solidFill>
                <a:latin typeface="Calibri"/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63455" y="303580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76F53"/>
                </a:solidFill>
                <a:latin typeface="Calibri"/>
              </a:rPr>
              <a:t>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15016" y="3794760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76F53"/>
                </a:solidFill>
                <a:latin typeface="Calibri"/>
              </a:rPr>
              <a:t>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63455" y="472744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76F53"/>
                </a:solidFill>
                <a:latin typeface="Calibri"/>
              </a:rPr>
              <a:t>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14031" y="472744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76F53"/>
                </a:solidFill>
                <a:latin typeface="Calibri"/>
              </a:rPr>
              <a:t>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4608" y="472744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76F53"/>
                </a:solidFill>
                <a:latin typeface="Calibri"/>
              </a:rPr>
              <a:t>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15184" y="4727448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76F53"/>
                </a:solidFill>
                <a:latin typeface="Calibri"/>
              </a:rPr>
              <a:t>←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" y="57607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0B341"/>
                </a:solidFill>
                <a:latin typeface="Calibri"/>
              </a:rPr>
              <a:t>INPUT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" y="6035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6F1E6"/>
                </a:solidFill>
                <a:latin typeface="Georgia"/>
              </a:rPr>
              <a:t>Folder of CSVs with fly gene symbols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0" y="5852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76F53"/>
                </a:solidFill>
                <a:latin typeface="Calibri"/>
              </a:rPr>
              <a:t>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2240" y="57607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0B341"/>
                </a:solidFill>
                <a:latin typeface="Calibri"/>
              </a:rPr>
              <a:t>OUTPUT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2240" y="6035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6F1E6"/>
                </a:solidFill>
                <a:latin typeface="Georgia"/>
              </a:rPr>
              <a:t>&lt;input_name&gt;_mouse_classification.xlsx  +  &lt;input_name&gt;_mouse.csv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382"/>
                </a:solidFill>
                <a:latin typeface="Calibri"/>
              </a:rPr>
              <a:t>fl.AI  ·  Data Flow Documentation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2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A656A"/>
                </a:solidFill>
                <a:latin typeface="Calibri"/>
              </a:rPr>
              <a:t>ORTHOLOG WALKTHROUGH  ·  REAL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E1F33"/>
                </a:solidFill>
                <a:latin typeface="Georgia"/>
              </a:rPr>
              <a:t>Example run: Tx-Omics_Conserved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2"/>
                </a:solidFill>
                <a:latin typeface="Georgia"/>
              </a:rPr>
              <a:t>The input folder contains one fly gene set and completed human + mouse ortholog outputs.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240280"/>
            <a:ext cx="11064240" cy="0"/>
          </a:xfrm>
          <a:prstGeom prst="line">
            <a:avLst/>
          </a:prstGeom>
          <a:ln w="12700">
            <a:solidFill>
              <a:srgbClr val="ECE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382"/>
                </a:solidFill>
                <a:latin typeface="Calibri"/>
              </a:rPr>
              <a:t>fl.AI  ·  Data Flow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2"/>
                </a:solidFill>
                <a:latin typeface="Calibri"/>
              </a:rPr>
              <a:t>13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233172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2331720" cy="109728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807208"/>
            <a:ext cx="20025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0E1F33"/>
                </a:solidFill>
                <a:latin typeface="Georgia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64408"/>
            <a:ext cx="2002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0E1F33"/>
                </a:solidFill>
                <a:latin typeface="Calibri"/>
              </a:rPr>
              <a:t>fly genes in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593592"/>
            <a:ext cx="200253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B4452"/>
                </a:solidFill>
                <a:latin typeface="Calibri"/>
              </a:rPr>
              <a:t>from fl.AI-Dmel-gene-hits.csv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2606040"/>
            <a:ext cx="233172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2606040"/>
            <a:ext cx="2331720" cy="109728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27832" y="2807208"/>
            <a:ext cx="20025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0E8388"/>
                </a:solidFill>
                <a:latin typeface="Georgia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3264408"/>
            <a:ext cx="2002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0E1F33"/>
                </a:solidFill>
                <a:latin typeface="Calibri"/>
              </a:rPr>
              <a:t>human ortholog genes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3593592"/>
            <a:ext cx="200253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B4452"/>
                </a:solidFill>
                <a:latin typeface="Calibri"/>
              </a:rPr>
              <a:t>plus 2 unmapped fly rows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2606040"/>
            <a:ext cx="233172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77840" y="2606040"/>
            <a:ext cx="2331720" cy="109728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1" y="2807208"/>
            <a:ext cx="20025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76F53"/>
                </a:solidFill>
                <a:latin typeface="Georgia"/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1" y="3264408"/>
            <a:ext cx="2002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0E1F33"/>
                </a:solidFill>
                <a:latin typeface="Calibri"/>
              </a:rPr>
              <a:t>mouse ortholog genes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1" y="3593592"/>
            <a:ext cx="200253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B4452"/>
                </a:solidFill>
                <a:latin typeface="Calibri"/>
              </a:rPr>
              <a:t>plus 2 unmapped fly rows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343400"/>
            <a:ext cx="3840480" cy="1691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343400"/>
            <a:ext cx="3840480" cy="347472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440740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80">
                <a:solidFill>
                  <a:srgbClr val="E0B341"/>
                </a:solidFill>
                <a:latin typeface="Calibri"/>
              </a:rPr>
              <a:t>INPUT 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82312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3B4452"/>
                </a:solidFill>
                <a:latin typeface="Calibri"/>
              </a:rPr>
              <a:t>ext_gene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7823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3B4452"/>
                </a:solidFill>
                <a:latin typeface="Calibri"/>
              </a:rPr>
              <a:t>flybase_gene_id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56632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0E1F33"/>
                </a:solidFill>
                <a:latin typeface="Calibri"/>
              </a:rPr>
              <a:t>AstA-R2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05663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3B4452"/>
                </a:solidFill>
                <a:latin typeface="Calibri"/>
              </a:rPr>
              <a:t>FBgn0039595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166360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0E1F33"/>
                </a:solidFill>
                <a:latin typeface="Calibri"/>
              </a:rPr>
              <a:t>BomBc2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516636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3B4452"/>
                </a:solidFill>
                <a:latin typeface="Calibri"/>
              </a:rPr>
              <a:t>FBgn0034331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276088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0E1F33"/>
                </a:solidFill>
                <a:latin typeface="Calibri"/>
              </a:rPr>
              <a:t>SIFa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5276088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3B4452"/>
                </a:solidFill>
                <a:latin typeface="Calibri"/>
              </a:rPr>
              <a:t>FBgn0053527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85816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0E1F33"/>
                </a:solidFill>
                <a:latin typeface="Calibri"/>
              </a:rPr>
              <a:t>Trhn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538581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3B4452"/>
                </a:solidFill>
                <a:latin typeface="Calibri"/>
              </a:rPr>
              <a:t>FBgn0035187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495544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0E1F33"/>
                </a:solidFill>
                <a:latin typeface="Calibri"/>
              </a:rPr>
              <a:t>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549554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3B4452"/>
                </a:solidFill>
                <a:latin typeface="Calibri"/>
              </a:rPr>
              <a:t>FBgn0002917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605272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0E1F33"/>
                </a:solidFill>
                <a:latin typeface="Calibri"/>
              </a:rPr>
              <a:t>rumpel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20" y="560527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3B4452"/>
                </a:solidFill>
                <a:latin typeface="Calibri"/>
              </a:rPr>
              <a:t>FBgn0029950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715000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0E1F33"/>
                </a:solidFill>
                <a:latin typeface="Calibri"/>
              </a:rPr>
              <a:t>unc79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571500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3B4452"/>
                </a:solidFill>
                <a:latin typeface="Calibri"/>
              </a:rPr>
              <a:t>FBgn0038693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824728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0E1F33"/>
                </a:solidFill>
                <a:latin typeface="Calibri"/>
              </a:rPr>
              <a:t>unc80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5824728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3B4452"/>
                </a:solidFill>
                <a:latin typeface="Calibri"/>
              </a:rPr>
              <a:t>FBgn0039536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4251960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E1F33"/>
                </a:solidFill>
                <a:latin typeface="Georgia"/>
              </a:rPr>
              <a:t>Ortholog run settings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4526279" y="4928616"/>
            <a:ext cx="45721" cy="283464"/>
          </a:xfrm>
          <a:prstGeom prst="line">
            <a:avLst/>
          </a:prstGeom>
          <a:ln w="15875">
            <a:solidFill>
              <a:srgbClr val="0E8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325112" y="4764024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8388"/>
                </a:solidFill>
                <a:latin typeface="Calibri"/>
              </a:rPr>
              <a:t>→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526279" y="5212080"/>
            <a:ext cx="45721" cy="429768"/>
          </a:xfrm>
          <a:prstGeom prst="line">
            <a:avLst/>
          </a:prstGeom>
          <a:ln w="15875">
            <a:solidFill>
              <a:srgbClr val="F76F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325112" y="5477256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76F53"/>
                </a:solidFill>
                <a:latin typeface="Calibri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09160" y="4663440"/>
            <a:ext cx="690372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09160" y="4663440"/>
            <a:ext cx="128016" cy="530352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01768" y="473659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E8388"/>
                </a:solidFill>
                <a:latin typeface="Calibri"/>
              </a:rPr>
              <a:t>Human output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4727448"/>
            <a:ext cx="4709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B4452"/>
                </a:solidFill>
                <a:latin typeface="Calibri"/>
              </a:rPr>
              <a:t>fl.AI-Dmel-gene-hits_human.csv
fl.AI-Dmel-gene-hits_human_classification.xlsx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09160" y="5376672"/>
            <a:ext cx="690372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709160" y="5376672"/>
            <a:ext cx="128016" cy="530352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01768" y="5449824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76F53"/>
                </a:solidFill>
                <a:latin typeface="Calibri"/>
              </a:rPr>
              <a:t>Mouse output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9400" y="5440680"/>
            <a:ext cx="4709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B4452"/>
                </a:solidFill>
                <a:latin typeface="Calibri"/>
              </a:rPr>
              <a:t>fl.AI-Dmel-gene-hits_mouse.csv
fl.AI-Dmel-gene-hits_mouse_classification.xlsx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709160" y="5897880"/>
            <a:ext cx="6903720" cy="411480"/>
          </a:xfrm>
          <a:prstGeom prst="roundRect">
            <a:avLst>
              <a:gd name="adj" fmla="val 4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37760" y="59893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80">
                <a:solidFill>
                  <a:srgbClr val="E0B341"/>
                </a:solidFill>
                <a:latin typeface="Calibri"/>
              </a:rPr>
              <a:t>KEYWORDS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5980176"/>
            <a:ext cx="5166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F6F1E6"/>
                </a:solidFill>
                <a:latin typeface="Georgia"/>
              </a:rPr>
              <a:t>sleep, circadian  ·  reference limit 50  ·  input gene column: ext_gene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E8388"/>
                </a:solidFill>
                <a:latin typeface="Calibri"/>
              </a:rPr>
              <a:t>ORTHOLOG WALKTHROUGH  ·  HUMAN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E1F33"/>
                </a:solidFill>
                <a:latin typeface="Georgia"/>
              </a:rPr>
              <a:t>Fly genes expanded into human literature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2"/>
                </a:solidFill>
                <a:latin typeface="Georgia"/>
              </a:rPr>
              <a:t>Human mode converts the 8 fly genes into 16 mapped human orthologs, then classifies the evidence for sleep and circadian relevance.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240280"/>
            <a:ext cx="11064240" cy="0"/>
          </a:xfrm>
          <a:prstGeom prst="line">
            <a:avLst/>
          </a:prstGeom>
          <a:ln w="12700">
            <a:solidFill>
              <a:srgbClr val="ECE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382"/>
                </a:solidFill>
                <a:latin typeface="Calibri"/>
              </a:rPr>
              <a:t>fl.AI  ·  Data Flow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2"/>
                </a:solidFill>
                <a:latin typeface="Calibri"/>
              </a:rPr>
              <a:t>14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78608"/>
            <a:ext cx="205740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2057400" cy="109728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779776"/>
            <a:ext cx="17282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0E8388"/>
                </a:solidFill>
                <a:latin typeface="Georgia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36976"/>
            <a:ext cx="17282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0E1F33"/>
                </a:solidFill>
                <a:latin typeface="Calibri"/>
              </a:rPr>
              <a:t>mapped genes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566160"/>
            <a:ext cx="172821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B4452"/>
                </a:solidFill>
                <a:latin typeface="Calibri"/>
              </a:rPr>
              <a:t>from 6 mapped fly genes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578608"/>
            <a:ext cx="205740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2578608"/>
            <a:ext cx="2057400" cy="109728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2779776"/>
            <a:ext cx="17282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76F53"/>
                </a:solidFill>
                <a:latin typeface="Georgia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3236976"/>
            <a:ext cx="17282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0E1F33"/>
                </a:solidFill>
                <a:latin typeface="Calibri"/>
              </a:rPr>
              <a:t>classified genes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3566160"/>
            <a:ext cx="172821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B4452"/>
                </a:solidFill>
                <a:latin typeface="Calibri"/>
              </a:rPr>
              <a:t>assigned to at least one bucket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578608"/>
            <a:ext cx="205740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2578608"/>
            <a:ext cx="2057400" cy="109728"/>
          </a:xfrm>
          <a:prstGeom prst="rect">
            <a:avLst/>
          </a:prstGeom>
          <a:solidFill>
            <a:srgbClr val="6B7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93792" y="2779776"/>
            <a:ext cx="17282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6B7382"/>
                </a:solidFill>
                <a:latin typeface="Georgia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3236976"/>
            <a:ext cx="17282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0E1F33"/>
                </a:solidFill>
                <a:latin typeface="Calibri"/>
              </a:rPr>
              <a:t>unclassified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566160"/>
            <a:ext cx="172821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B4452"/>
                </a:solidFill>
                <a:latin typeface="Calibri"/>
              </a:rPr>
              <a:t>reviewed but no matching bucket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069080"/>
            <a:ext cx="3154680" cy="1417320"/>
          </a:xfrm>
          <a:prstGeom prst="roundRect">
            <a:avLst>
              <a:gd name="adj" fmla="val 4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224528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0B341"/>
                </a:solidFill>
                <a:latin typeface="Calibri"/>
              </a:rPr>
              <a:t>HUMAN BUCKETS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72000"/>
            <a:ext cx="502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F76F53"/>
                </a:solidFill>
                <a:latin typeface="Georg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62686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6F1E6"/>
                </a:solidFill>
                <a:latin typeface="Georgia"/>
              </a:rPr>
              <a:t>sleep + circadian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965192"/>
            <a:ext cx="502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E8388"/>
                </a:solidFill>
                <a:latin typeface="Georg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020056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6F1E6"/>
                </a:solidFill>
                <a:latin typeface="Georgia"/>
              </a:rPr>
              <a:t>circadian 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77639" y="4069080"/>
            <a:ext cx="31089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4224528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8388"/>
                </a:solidFill>
                <a:latin typeface="Georgia"/>
              </a:rPr>
              <a:t>Strongest 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553712"/>
            <a:ext cx="26060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B4452"/>
                </a:solidFill>
                <a:latin typeface="Calibri"/>
              </a:rPr>
              <a:t>The na / unc79 / unc80 fly genes converge on the human NALCN channelosome, producing the highest-confidence sleep + circadian calls.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2578608"/>
            <a:ext cx="4251959" cy="3364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60920" y="2578608"/>
            <a:ext cx="4251959" cy="420624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34072" y="2633472"/>
            <a:ext cx="9052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0" b="1" i="0">
                <a:solidFill>
                  <a:srgbClr val="F6F1E6"/>
                </a:solidFill>
                <a:latin typeface="Calibri"/>
              </a:rPr>
              <a:t>Human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2633472"/>
            <a:ext cx="9966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0" b="1" i="0">
                <a:solidFill>
                  <a:srgbClr val="F6F1E6"/>
                </a:solidFill>
                <a:latin typeface="Calibri"/>
              </a:rPr>
              <a:t>Fly source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28632" y="2633472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0" b="1" i="0">
                <a:solidFill>
                  <a:srgbClr val="F6F1E6"/>
                </a:solidFill>
                <a:latin typeface="Calibri"/>
              </a:rPr>
              <a:t>Bucket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3112" y="2633472"/>
            <a:ext cx="3566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0" b="1" i="0">
                <a:solidFill>
                  <a:srgbClr val="F6F1E6"/>
                </a:solidFill>
                <a:latin typeface="Calibri"/>
              </a:rPr>
              <a:t>Conf.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60920" y="2999232"/>
            <a:ext cx="4251959" cy="420624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34072" y="3054096"/>
            <a:ext cx="9052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NALCN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3054096"/>
            <a:ext cx="9966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E1F33"/>
                </a:solidFill>
                <a:latin typeface="Calibri"/>
              </a:rPr>
              <a:t>na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28632" y="3054096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sleep; circadian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83112" y="3054096"/>
            <a:ext cx="3566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92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34072" y="3474720"/>
            <a:ext cx="9052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UNC80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2" y="3474720"/>
            <a:ext cx="9966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E1F33"/>
                </a:solidFill>
                <a:latin typeface="Calibri"/>
              </a:rPr>
              <a:t>unc80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28632" y="3474720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sleep; circadian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83112" y="3474720"/>
            <a:ext cx="3566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77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60920" y="3840480"/>
            <a:ext cx="4251959" cy="420624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34072" y="3895344"/>
            <a:ext cx="9052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UNC79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5632" y="3895344"/>
            <a:ext cx="9966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E1F33"/>
                </a:solidFill>
                <a:latin typeface="Calibri"/>
              </a:rPr>
              <a:t>unc79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28632" y="3895344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sleep; circadian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83112" y="3895344"/>
            <a:ext cx="3566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68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34072" y="4315968"/>
            <a:ext cx="9052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85632" y="4315968"/>
            <a:ext cx="9966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E1F33"/>
                </a:solidFill>
                <a:latin typeface="Calibri"/>
              </a:rPr>
              <a:t>Trhn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28632" y="4315968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sleep; circadian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83112" y="4315968"/>
            <a:ext cx="3566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63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4681728"/>
            <a:ext cx="4251959" cy="420624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34072" y="4736592"/>
            <a:ext cx="9052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GALR3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85632" y="4736592"/>
            <a:ext cx="9966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E1F33"/>
                </a:solidFill>
                <a:latin typeface="Calibri"/>
              </a:rPr>
              <a:t>AstA-R2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28632" y="4736592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circadian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83112" y="4736592"/>
            <a:ext cx="3566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72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34072" y="5157216"/>
            <a:ext cx="9052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GALR1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85632" y="5157216"/>
            <a:ext cx="9966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E1F33"/>
                </a:solidFill>
                <a:latin typeface="Calibri"/>
              </a:rPr>
              <a:t>AstA-R2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28632" y="5157216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circadian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83112" y="5157216"/>
            <a:ext cx="3566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64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60920" y="5522976"/>
            <a:ext cx="4251959" cy="420624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34072" y="5577840"/>
            <a:ext cx="9052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GALR2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85632" y="5577840"/>
            <a:ext cx="9966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E1F33"/>
                </a:solidFill>
                <a:latin typeface="Calibri"/>
              </a:rPr>
              <a:t>AstA-R2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28632" y="5577840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circadian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83112" y="5577840"/>
            <a:ext cx="3566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E1F33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F76F53"/>
                </a:solidFill>
                <a:latin typeface="Calibri"/>
              </a:rPr>
              <a:t>ORTHOLOG WALKTHROUGH  ·  MOUSE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E1F33"/>
                </a:solidFill>
                <a:latin typeface="Georgia"/>
              </a:rPr>
              <a:t>The same fly set produces a richer mouse result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2"/>
                </a:solidFill>
                <a:latin typeface="Georgia"/>
              </a:rPr>
              <a:t>Mouse mode uses the same input and keywords, but the mouse literature supports more classified sleep/circadian calls.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240280"/>
            <a:ext cx="11064240" cy="0"/>
          </a:xfrm>
          <a:prstGeom prst="line">
            <a:avLst/>
          </a:prstGeom>
          <a:ln w="12700">
            <a:solidFill>
              <a:srgbClr val="ECE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382"/>
                </a:solidFill>
                <a:latin typeface="Calibri"/>
              </a:rPr>
              <a:t>fl.AI  ·  Data Flow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2"/>
                </a:solidFill>
                <a:latin typeface="Calibri"/>
              </a:rPr>
              <a:t>15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78608"/>
            <a:ext cx="205740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2057400" cy="109728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779776"/>
            <a:ext cx="17282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76F53"/>
                </a:solidFill>
                <a:latin typeface="Georgia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36976"/>
            <a:ext cx="17282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0E1F33"/>
                </a:solidFill>
                <a:latin typeface="Calibri"/>
              </a:rPr>
              <a:t>mapped genes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566160"/>
            <a:ext cx="172821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B4452"/>
                </a:solidFill>
                <a:latin typeface="Calibri"/>
              </a:rPr>
              <a:t>from 6 mapped fly genes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578608"/>
            <a:ext cx="205740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2578608"/>
            <a:ext cx="2057400" cy="109728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2779776"/>
            <a:ext cx="17282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0E8388"/>
                </a:solidFill>
                <a:latin typeface="Georgia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3236976"/>
            <a:ext cx="17282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0E1F33"/>
                </a:solidFill>
                <a:latin typeface="Calibri"/>
              </a:rPr>
              <a:t>classified genes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3566160"/>
            <a:ext cx="172821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B4452"/>
                </a:solidFill>
                <a:latin typeface="Calibri"/>
              </a:rPr>
              <a:t>assigned to at least one bucket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578608"/>
            <a:ext cx="205740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2578608"/>
            <a:ext cx="2057400" cy="109728"/>
          </a:xfrm>
          <a:prstGeom prst="rect">
            <a:avLst/>
          </a:prstGeom>
          <a:solidFill>
            <a:srgbClr val="6B7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93792" y="2779776"/>
            <a:ext cx="17282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6B7382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3236976"/>
            <a:ext cx="17282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0E1F33"/>
                </a:solidFill>
                <a:latin typeface="Calibri"/>
              </a:rPr>
              <a:t>unclassified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566160"/>
            <a:ext cx="172821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B4452"/>
                </a:solidFill>
                <a:latin typeface="Calibri"/>
              </a:rPr>
              <a:t>reviewed but no matching bucket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069080"/>
            <a:ext cx="3154680" cy="1554480"/>
          </a:xfrm>
          <a:prstGeom prst="roundRect">
            <a:avLst>
              <a:gd name="adj" fmla="val 4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224528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0B341"/>
                </a:solidFill>
                <a:latin typeface="Calibri"/>
              </a:rPr>
              <a:t>MOUSE BUCKETS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262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8388"/>
                </a:solidFill>
                <a:latin typeface="Georg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562856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F6F1E6"/>
                </a:solidFill>
                <a:latin typeface="Georgia"/>
              </a:rPr>
              <a:t>circadian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5546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76F53"/>
                </a:solidFill>
                <a:latin typeface="Georgia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489204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F6F1E6"/>
                </a:solidFill>
                <a:latin typeface="Georgia"/>
              </a:rPr>
              <a:t>sleep + circadian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8464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B341"/>
                </a:solidFill>
                <a:latin typeface="Georgia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5221224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F6F1E6"/>
                </a:solidFill>
                <a:latin typeface="Georgia"/>
              </a:rPr>
              <a:t>sleep only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77639" y="4069080"/>
            <a:ext cx="31089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4224528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76F53"/>
                </a:solidFill>
                <a:latin typeface="Georgia"/>
              </a:rPr>
              <a:t>Mouse adds 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4553712"/>
            <a:ext cx="26060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B4452"/>
                </a:solidFill>
                <a:latin typeface="Calibri"/>
              </a:rPr>
              <a:t>Nalcn and Tph2 become the strongest calls. Mouse-specific evidence also pulls in Galr1 as sleep-only and several rumpel orthologs.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60920" y="2578608"/>
            <a:ext cx="4251959" cy="34564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60920" y="2578608"/>
            <a:ext cx="4251959" cy="384048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34072" y="2633472"/>
            <a:ext cx="905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F6F1E6"/>
                </a:solidFill>
                <a:latin typeface="Calibri"/>
              </a:rPr>
              <a:t>Mouse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5632" y="2633472"/>
            <a:ext cx="9966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F6F1E6"/>
                </a:solidFill>
                <a:latin typeface="Calibri"/>
              </a:rPr>
              <a:t>Fly source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28632" y="2633472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F6F1E6"/>
                </a:solidFill>
                <a:latin typeface="Calibri"/>
              </a:rPr>
              <a:t>Bucket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2633472"/>
            <a:ext cx="3566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F6F1E6"/>
                </a:solidFill>
                <a:latin typeface="Calibri"/>
              </a:rPr>
              <a:t>Conf.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2962656"/>
            <a:ext cx="4251959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34072" y="3017520"/>
            <a:ext cx="905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Nalcn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3017520"/>
            <a:ext cx="9966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0" i="0">
                <a:solidFill>
                  <a:srgbClr val="0E1F33"/>
                </a:solidFill>
                <a:latin typeface="Calibri"/>
              </a:rPr>
              <a:t>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28632" y="3017520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sleep; circadian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83112" y="3017520"/>
            <a:ext cx="3566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96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34072" y="3401568"/>
            <a:ext cx="905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Tph2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5632" y="3401568"/>
            <a:ext cx="9966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0" i="0">
                <a:solidFill>
                  <a:srgbClr val="0E1F33"/>
                </a:solidFill>
                <a:latin typeface="Calibri"/>
              </a:rPr>
              <a:t>Trhn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28632" y="3401568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sleep; circadian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83112" y="3401568"/>
            <a:ext cx="3566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95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60920" y="3730752"/>
            <a:ext cx="4251959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34072" y="3785615"/>
            <a:ext cx="905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Kiss1r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3785615"/>
            <a:ext cx="9966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0" i="0">
                <a:solidFill>
                  <a:srgbClr val="0E1F33"/>
                </a:solidFill>
                <a:latin typeface="Calibri"/>
              </a:rPr>
              <a:t>AstA-R2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28632" y="3785615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circadian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83112" y="3785615"/>
            <a:ext cx="3566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91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34072" y="4169663"/>
            <a:ext cx="905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Galr1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4169663"/>
            <a:ext cx="9966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0" i="0">
                <a:solidFill>
                  <a:srgbClr val="0E1F33"/>
                </a:solidFill>
                <a:latin typeface="Calibri"/>
              </a:rPr>
              <a:t>AstA-R2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28632" y="4169663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sleep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83112" y="4169663"/>
            <a:ext cx="3566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90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60920" y="4498848"/>
            <a:ext cx="4251959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34072" y="4553712"/>
            <a:ext cx="905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Slc5a6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85632" y="4553712"/>
            <a:ext cx="9966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0" i="0">
                <a:solidFill>
                  <a:srgbClr val="0E1F33"/>
                </a:solidFill>
                <a:latin typeface="Calibri"/>
              </a:rPr>
              <a:t>rumpel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28632" y="4553712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sleep; circadian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83112" y="4553712"/>
            <a:ext cx="3566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86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34072" y="4937759"/>
            <a:ext cx="905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Th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85632" y="4937759"/>
            <a:ext cx="9966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0" i="0">
                <a:solidFill>
                  <a:srgbClr val="0E1F33"/>
                </a:solidFill>
                <a:latin typeface="Calibri"/>
              </a:rPr>
              <a:t>Trhn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28632" y="4937759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sleep; circadian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83112" y="4937759"/>
            <a:ext cx="3566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84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60920" y="5266944"/>
            <a:ext cx="4251959" cy="384048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34072" y="5321807"/>
            <a:ext cx="905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Slc5a11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85632" y="5321807"/>
            <a:ext cx="9966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0" i="0">
                <a:solidFill>
                  <a:srgbClr val="0E1F33"/>
                </a:solidFill>
                <a:latin typeface="Calibri"/>
              </a:rPr>
              <a:t>rumpel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28632" y="5321807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circadian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83112" y="5321807"/>
            <a:ext cx="3566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80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34072" y="5705855"/>
            <a:ext cx="9052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Tph1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85632" y="5705855"/>
            <a:ext cx="9966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0" i="0">
                <a:solidFill>
                  <a:srgbClr val="0E1F33"/>
                </a:solidFill>
                <a:latin typeface="Calibri"/>
              </a:rPr>
              <a:t>Trhn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28632" y="5705855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circadian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83112" y="5705855"/>
            <a:ext cx="3566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0E1F33"/>
                </a:solidFill>
                <a:latin typeface="Calibri"/>
              </a:rPr>
              <a:t>72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0B341"/>
                </a:solidFill>
                <a:latin typeface="Calibri"/>
              </a:rPr>
              <a:t>ORTHOLOG WALKTHROUGH  · 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 i="0">
                <a:solidFill>
                  <a:srgbClr val="F6F1E6"/>
                </a:solidFill>
                <a:latin typeface="Georgia"/>
              </a:rPr>
              <a:t>Same fly genes, different evidence landscapes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1">
                <a:solidFill>
                  <a:srgbClr val="C8CED8"/>
                </a:solidFill>
                <a:latin typeface="Georgia"/>
              </a:rPr>
              <a:t>Ortholog mode is not just name translation: the species-specific literature changes which targets get strong evidence.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770632"/>
            <a:ext cx="1188720" cy="45720"/>
          </a:xfrm>
          <a:prstGeom prst="rect">
            <a:avLst/>
          </a:prstGeom>
          <a:solidFill>
            <a:srgbClr val="E0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1" i="0" spc="150">
                <a:solidFill>
                  <a:srgbClr val="F6F1E6"/>
                </a:solidFill>
                <a:latin typeface="Calibri"/>
              </a:rPr>
              <a:t>Fly 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2770632"/>
            <a:ext cx="4389120" cy="45720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514600"/>
            <a:ext cx="44805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1" i="0" spc="150">
                <a:solidFill>
                  <a:srgbClr val="F6F1E6"/>
                </a:solidFill>
                <a:latin typeface="Calibri"/>
              </a:rPr>
              <a:t>Human 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2770632"/>
            <a:ext cx="4389120" cy="45720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514600"/>
            <a:ext cx="44805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1" i="0" spc="150">
                <a:solidFill>
                  <a:srgbClr val="F6F1E6"/>
                </a:solidFill>
                <a:latin typeface="Calibri"/>
              </a:rPr>
              <a:t>Mouse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90088"/>
            <a:ext cx="10881359" cy="475488"/>
          </a:xfrm>
          <a:prstGeom prst="roundRect">
            <a:avLst>
              <a:gd name="adj" fmla="val 3000"/>
            </a:avLst>
          </a:prstGeom>
          <a:solidFill>
            <a:srgbClr val="1A2D46"/>
          </a:solidFill>
          <a:ln>
            <a:solidFill>
              <a:srgbClr val="45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099816"/>
            <a:ext cx="11612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F6F1E6"/>
                </a:solidFill>
                <a:latin typeface="Calibri"/>
              </a:rPr>
              <a:t>na (fly gene)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3099816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1" i="0">
                <a:solidFill>
                  <a:srgbClr val="FFFFFF"/>
                </a:solidFill>
                <a:latin typeface="Calibri"/>
              </a:rPr>
              <a:t>NALCN  ·  92  ·  sleep + circadian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1" y="3099816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1" i="0">
                <a:solidFill>
                  <a:srgbClr val="FFFFFF"/>
                </a:solidFill>
                <a:latin typeface="Calibri"/>
              </a:rPr>
              <a:t>Nalcn  ·  96  ·  sleep + circadian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11880"/>
            <a:ext cx="10881359" cy="475488"/>
          </a:xfrm>
          <a:prstGeom prst="roundRect">
            <a:avLst>
              <a:gd name="adj" fmla="val 3000"/>
            </a:avLst>
          </a:prstGeom>
          <a:solidFill>
            <a:srgbClr val="152A43"/>
          </a:solidFill>
          <a:ln>
            <a:solidFill>
              <a:srgbClr val="45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721608"/>
            <a:ext cx="11612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F6F1E6"/>
                </a:solidFill>
                <a:latin typeface="Calibri"/>
              </a:rPr>
              <a:t>Trhn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3721608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1" i="0">
                <a:solidFill>
                  <a:srgbClr val="FFFFFF"/>
                </a:solidFill>
                <a:latin typeface="Calibri"/>
              </a:rPr>
              <a:t>TH  ·  63  ·  sleep + circadian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1" y="3721608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1" i="0">
                <a:solidFill>
                  <a:srgbClr val="FFFFFF"/>
                </a:solidFill>
                <a:latin typeface="Calibri"/>
              </a:rPr>
              <a:t>Tph2  ·  95  ·  sleep + circadian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233672"/>
            <a:ext cx="10881359" cy="475488"/>
          </a:xfrm>
          <a:prstGeom prst="roundRect">
            <a:avLst>
              <a:gd name="adj" fmla="val 3000"/>
            </a:avLst>
          </a:prstGeom>
          <a:solidFill>
            <a:srgbClr val="1A2D46"/>
          </a:solidFill>
          <a:ln>
            <a:solidFill>
              <a:srgbClr val="45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343400"/>
            <a:ext cx="11612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F6F1E6"/>
                </a:solidFill>
                <a:latin typeface="Calibri"/>
              </a:rPr>
              <a:t>AstA-R2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434340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1" i="0">
                <a:solidFill>
                  <a:srgbClr val="FFFFFF"/>
                </a:solidFill>
                <a:latin typeface="Calibri"/>
              </a:rPr>
              <a:t>GALR1/2/3  ·  circadian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1" y="434340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1" i="0">
                <a:solidFill>
                  <a:srgbClr val="FFFFFF"/>
                </a:solidFill>
                <a:latin typeface="Calibri"/>
              </a:rPr>
              <a:t>Kiss1r  ·  91  ·  circadian;  Galr1  ·  90  ·  sleep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5464"/>
            <a:ext cx="10881359" cy="475488"/>
          </a:xfrm>
          <a:prstGeom prst="roundRect">
            <a:avLst>
              <a:gd name="adj" fmla="val 3000"/>
            </a:avLst>
          </a:prstGeom>
          <a:solidFill>
            <a:srgbClr val="152A43"/>
          </a:solidFill>
          <a:ln>
            <a:solidFill>
              <a:srgbClr val="455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965192"/>
            <a:ext cx="11612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F6F1E6"/>
                </a:solidFill>
                <a:latin typeface="Calibri"/>
              </a:rPr>
              <a:t>BomBc2, SIFa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7712" y="496519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1" i="0">
                <a:solidFill>
                  <a:srgbClr val="FFFFFF"/>
                </a:solidFill>
                <a:latin typeface="Calibri"/>
              </a:rPr>
              <a:t>kept as unmapped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1" y="496519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1" i="0">
                <a:solidFill>
                  <a:srgbClr val="FFFFFF"/>
                </a:solidFill>
                <a:latin typeface="Calibri"/>
              </a:rPr>
              <a:t>kept as unmapped rows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577840"/>
            <a:ext cx="10789920" cy="731520"/>
          </a:xfrm>
          <a:prstGeom prst="roundRect">
            <a:avLst>
              <a:gd name="adj" fmla="val 4000"/>
            </a:avLst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70585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F76F53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5669280"/>
            <a:ext cx="9189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 i="1">
                <a:solidFill>
                  <a:srgbClr val="0E1F33"/>
                </a:solidFill>
                <a:latin typeface="Georgia"/>
              </a:rPr>
              <a:t>The workbook preserves both views: mapping rows explain how fly genes crossed species, while classification rows show which orthologs earned sleep or circadian evidence.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150">
                <a:solidFill>
                  <a:srgbClr val="C8CED8"/>
                </a:solidFill>
                <a:latin typeface="Calibri"/>
              </a:rPr>
              <a:t>fl.AI  ·  Tx-Omics_Conserved example  ·  human + mouse ortholog runs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2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0B341"/>
                </a:solidFill>
                <a:latin typeface="Calibri"/>
              </a:rPr>
              <a:t>THE WHOLE JOURNEY, IN ONE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6F1E6"/>
                </a:solidFill>
                <a:latin typeface="Georgia"/>
              </a:rPr>
              <a:t>One gene.  Seven stages.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C8CED8"/>
                </a:solidFill>
                <a:latin typeface="Georgia"/>
              </a:rPr>
              <a:t>Following a single gene from researcher symbol to final verdict.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38942" y="3794759"/>
            <a:ext cx="9483635" cy="0"/>
          </a:xfrm>
          <a:prstGeom prst="line">
            <a:avLst/>
          </a:prstGeom>
          <a:ln w="19050">
            <a:solidFill>
              <a:srgbClr val="6B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247502" y="3703320"/>
            <a:ext cx="182880" cy="182880"/>
          </a:xfrm>
          <a:prstGeom prst="ellipse">
            <a:avLst/>
          </a:prstGeom>
          <a:solidFill>
            <a:srgbClr val="EC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42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E0B341"/>
                </a:solidFill>
                <a:latin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542" y="3291839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6F1E6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542" y="4069079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8CED8"/>
                </a:solidFill>
                <a:latin typeface="Georgia"/>
              </a:rPr>
              <a:t>per</a:t>
            </a:r>
          </a:p>
        </p:txBody>
      </p:sp>
      <p:sp>
        <p:nvSpPr>
          <p:cNvPr id="13" name="Oval 12"/>
          <p:cNvSpPr/>
          <p:nvPr/>
        </p:nvSpPr>
        <p:spPr>
          <a:xfrm>
            <a:off x="2828108" y="3703320"/>
            <a:ext cx="182880" cy="182880"/>
          </a:xfrm>
          <a:prstGeom prst="ellipse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05148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E0B341"/>
                </a:solidFill>
                <a:latin typeface="Calibri"/>
              </a:rPr>
              <a:t>RESOLVE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5148" y="3291839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6F1E6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5148" y="4069079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8CED8"/>
                </a:solidFill>
                <a:latin typeface="Georgia"/>
              </a:rPr>
              <a:t>FBgn0003068</a:t>
            </a:r>
          </a:p>
        </p:txBody>
      </p:sp>
      <p:sp>
        <p:nvSpPr>
          <p:cNvPr id="17" name="Oval 16"/>
          <p:cNvSpPr/>
          <p:nvPr/>
        </p:nvSpPr>
        <p:spPr>
          <a:xfrm>
            <a:off x="4408714" y="3703320"/>
            <a:ext cx="182880" cy="182880"/>
          </a:xfrm>
          <a:prstGeom prst="ellipse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5754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E0B341"/>
                </a:solidFill>
                <a:latin typeface="Calibri"/>
              </a:rPr>
              <a:t>GATHER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5754" y="3291839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6F1E6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5754" y="4069079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8CED8"/>
                </a:solidFill>
                <a:latin typeface="Georgia"/>
              </a:rPr>
              <a:t>~30 candidate papers</a:t>
            </a:r>
          </a:p>
        </p:txBody>
      </p:sp>
      <p:sp>
        <p:nvSpPr>
          <p:cNvPr id="21" name="Oval 20"/>
          <p:cNvSpPr/>
          <p:nvPr/>
        </p:nvSpPr>
        <p:spPr>
          <a:xfrm>
            <a:off x="5989319" y="3703320"/>
            <a:ext cx="182880" cy="182880"/>
          </a:xfrm>
          <a:prstGeom prst="ellipse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59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E0B341"/>
                </a:solidFill>
                <a:latin typeface="Calibri"/>
              </a:rPr>
              <a:t>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3291839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6F1E6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59" y="4069079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8CED8"/>
                </a:solidFill>
                <a:latin typeface="Georgia"/>
              </a:rPr>
              <a:t>10 keyword-relevant</a:t>
            </a:r>
          </a:p>
        </p:txBody>
      </p:sp>
      <p:sp>
        <p:nvSpPr>
          <p:cNvPr id="25" name="Oval 24"/>
          <p:cNvSpPr/>
          <p:nvPr/>
        </p:nvSpPr>
        <p:spPr>
          <a:xfrm>
            <a:off x="7569925" y="3703320"/>
            <a:ext cx="182880" cy="182880"/>
          </a:xfrm>
          <a:prstGeom prst="ellipse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6965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E0B341"/>
                </a:solidFill>
                <a:latin typeface="Calibri"/>
              </a:rPr>
              <a:t>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6965" y="3291839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6F1E6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6965" y="4069079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8CED8"/>
                </a:solidFill>
                <a:latin typeface="Georgia"/>
              </a:rPr>
              <a:t>6 evidence summaries</a:t>
            </a:r>
          </a:p>
        </p:txBody>
      </p:sp>
      <p:sp>
        <p:nvSpPr>
          <p:cNvPr id="29" name="Oval 28"/>
          <p:cNvSpPr/>
          <p:nvPr/>
        </p:nvSpPr>
        <p:spPr>
          <a:xfrm>
            <a:off x="9150531" y="3703320"/>
            <a:ext cx="182880" cy="182880"/>
          </a:xfrm>
          <a:prstGeom prst="ellipse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7571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E0B341"/>
                </a:solidFill>
                <a:latin typeface="Calibri"/>
              </a:rPr>
              <a:t>CLASSIFY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7571" y="3291839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6F1E6"/>
                </a:solidFill>
                <a:latin typeface="Georgia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7571" y="4069079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8CED8"/>
                </a:solidFill>
                <a:latin typeface="Georgia"/>
              </a:rPr>
              <a:t>sleep · circadian</a:t>
            </a:r>
          </a:p>
        </p:txBody>
      </p:sp>
      <p:sp>
        <p:nvSpPr>
          <p:cNvPr id="33" name="Oval 32"/>
          <p:cNvSpPr/>
          <p:nvPr/>
        </p:nvSpPr>
        <p:spPr>
          <a:xfrm>
            <a:off x="10731137" y="3703320"/>
            <a:ext cx="182880" cy="182880"/>
          </a:xfrm>
          <a:prstGeom prst="ellipse">
            <a:avLst/>
          </a:prstGeom>
          <a:solidFill>
            <a:srgbClr val="F76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08177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E0B341"/>
                </a:solidFill>
                <a:latin typeface="Calibri"/>
              </a:rPr>
              <a:t>DELIVER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8177" y="3291839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6F1E6"/>
                </a:solidFill>
                <a:latin typeface="Georgia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8177" y="4069079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8CED8"/>
                </a:solidFill>
                <a:latin typeface="Georgia"/>
              </a:rPr>
              <a:t>row in the report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029200"/>
            <a:ext cx="11064240" cy="1280160"/>
          </a:xfrm>
          <a:prstGeom prst="roundRect">
            <a:avLst>
              <a:gd name="adj" fmla="val 4000"/>
            </a:avLst>
          </a:prstGeom>
          <a:solidFill>
            <a:srgbClr val="1A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16636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E0B341"/>
                </a:solidFill>
                <a:latin typeface="Calibri"/>
              </a:rPr>
              <a:t>WHAT THE RESEARCHER GETS 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486400"/>
            <a:ext cx="335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6F1E6"/>
                </a:solidFill>
                <a:latin typeface="Georgia"/>
              </a:rPr>
              <a:t>A complete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806440"/>
            <a:ext cx="335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ED8"/>
                </a:solidFill>
                <a:latin typeface="Calibri"/>
              </a:rPr>
              <a:t>Every paper the pipeline considered, kept or dropped, with the source it came from.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2920" y="5486400"/>
            <a:ext cx="335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6F1E6"/>
                </a:solidFill>
                <a:latin typeface="Georgia"/>
              </a:rPr>
              <a:t>A reasoned verdict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2920" y="5806440"/>
            <a:ext cx="335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ED8"/>
                </a:solidFill>
                <a:latin typeface="Calibri"/>
              </a:rPr>
              <a:t>A category, a confidence score, and a short rationale per gene.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8600" y="5486400"/>
            <a:ext cx="335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6F1E6"/>
                </a:solidFill>
                <a:latin typeface="Georgia"/>
              </a:rPr>
              <a:t>A reusable starting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48600" y="5806440"/>
            <a:ext cx="335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ED8"/>
                </a:solidFill>
                <a:latin typeface="Calibri"/>
              </a:rPr>
              <a:t>Re-running with new keywords reuses the work already done — no duplicate searching.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200">
                <a:solidFill>
                  <a:srgbClr val="C8CED8"/>
                </a:solidFill>
                <a:latin typeface="Calibri"/>
              </a:rPr>
              <a:t>fl.AI  ·  Allada Lab  ·  University of Michigan  · 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2"/>
                </a:solidFill>
                <a:latin typeface="Calibr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